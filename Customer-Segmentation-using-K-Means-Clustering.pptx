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8" d="100"/>
          <a:sy n="68" d="100"/>
        </p:scale>
        <p:origin x="715"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2886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2273737"/>
            <a:ext cx="7468553" cy="1408033"/>
          </a:xfrm>
          <a:prstGeom prst="rect">
            <a:avLst/>
          </a:prstGeom>
          <a:noFill/>
          <a:ln/>
        </p:spPr>
        <p:txBody>
          <a:bodyPr wrap="squar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Customer Segmentation using K-Means Clustering</a:t>
            </a:r>
            <a:endParaRPr lang="en-US" sz="4400" dirty="0"/>
          </a:p>
        </p:txBody>
      </p:sp>
      <p:sp>
        <p:nvSpPr>
          <p:cNvPr id="4" name="Text 1"/>
          <p:cNvSpPr/>
          <p:nvPr/>
        </p:nvSpPr>
        <p:spPr>
          <a:xfrm>
            <a:off x="6324124" y="4040743"/>
            <a:ext cx="7468553" cy="1915120"/>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This presentation explores customer segmentation using unsupervised machine learning, specifically the K-Means Clustering algorithm. We aim to group customers based on demographic and behavioural attributes to identify valuable customer groups, tailor marketing efforts, optimise resource allocation, and improve customer satisfaction and profitability.</a:t>
            </a: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1089660" y="3718560"/>
            <a:ext cx="3307080" cy="792480"/>
          </a:xfrm>
          <a:prstGeom prst="rect">
            <a:avLst/>
          </a:prstGeom>
        </p:spPr>
      </p:pic>
      <p:sp>
        <p:nvSpPr>
          <p:cNvPr id="4" name="Text 0"/>
          <p:cNvSpPr/>
          <p:nvPr/>
        </p:nvSpPr>
        <p:spPr>
          <a:xfrm>
            <a:off x="6203037" y="667107"/>
            <a:ext cx="7710726" cy="1204436"/>
          </a:xfrm>
          <a:prstGeom prst="rect">
            <a:avLst/>
          </a:prstGeom>
          <a:noFill/>
          <a:ln/>
        </p:spPr>
        <p:txBody>
          <a:bodyPr wrap="square" lIns="0" tIns="0" rIns="0" bIns="0" rtlCol="0" anchor="t"/>
          <a:lstStyle/>
          <a:p>
            <a:pPr marL="0" indent="0" algn="l">
              <a:lnSpc>
                <a:spcPts val="4700"/>
              </a:lnSpc>
              <a:buNone/>
            </a:pPr>
            <a:r>
              <a:rPr lang="en-US" sz="3750" dirty="0">
                <a:solidFill>
                  <a:srgbClr val="000000"/>
                </a:solidFill>
                <a:latin typeface="Source Serif Pro Semi Bold" pitchFamily="34" charset="0"/>
                <a:ea typeface="Source Serif Pro Semi Bold" pitchFamily="34" charset="-122"/>
                <a:cs typeface="Source Serif Pro Semi Bold" pitchFamily="34" charset="-120"/>
              </a:rPr>
              <a:t>Dataset Overview: Mall Customer Segmentation</a:t>
            </a:r>
            <a:endParaRPr lang="en-US" sz="3750" dirty="0"/>
          </a:p>
        </p:txBody>
      </p:sp>
      <p:sp>
        <p:nvSpPr>
          <p:cNvPr id="5" name="Shape 1"/>
          <p:cNvSpPr/>
          <p:nvPr/>
        </p:nvSpPr>
        <p:spPr>
          <a:xfrm>
            <a:off x="6203037" y="2178606"/>
            <a:ext cx="7710726" cy="3612594"/>
          </a:xfrm>
          <a:prstGeom prst="roundRect">
            <a:avLst>
              <a:gd name="adj" fmla="val 2381"/>
            </a:avLst>
          </a:prstGeom>
          <a:noFill/>
          <a:ln w="7620">
            <a:solidFill>
              <a:srgbClr val="000000">
                <a:alpha val="8000"/>
              </a:srgbClr>
            </a:solidFill>
            <a:prstDash val="solid"/>
          </a:ln>
        </p:spPr>
      </p:sp>
      <p:sp>
        <p:nvSpPr>
          <p:cNvPr id="6" name="Shape 2"/>
          <p:cNvSpPr/>
          <p:nvPr/>
        </p:nvSpPr>
        <p:spPr>
          <a:xfrm>
            <a:off x="6210657" y="2186226"/>
            <a:ext cx="7695486" cy="588407"/>
          </a:xfrm>
          <a:prstGeom prst="rect">
            <a:avLst/>
          </a:prstGeom>
          <a:solidFill>
            <a:srgbClr val="FFFFFF">
              <a:alpha val="4000"/>
            </a:srgbClr>
          </a:solidFill>
          <a:ln/>
        </p:spPr>
      </p:sp>
      <p:sp>
        <p:nvSpPr>
          <p:cNvPr id="7" name="Text 3"/>
          <p:cNvSpPr/>
          <p:nvPr/>
        </p:nvSpPr>
        <p:spPr>
          <a:xfrm>
            <a:off x="6415326" y="2316599"/>
            <a:ext cx="3434596" cy="327660"/>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Source Sans Pro" pitchFamily="34" charset="0"/>
                <a:ea typeface="Source Sans Pro" pitchFamily="34" charset="-122"/>
                <a:cs typeface="Source Sans Pro" pitchFamily="34" charset="-120"/>
              </a:rPr>
              <a:t>CustomerID</a:t>
            </a:r>
            <a:endParaRPr lang="en-US" sz="1600" dirty="0"/>
          </a:p>
        </p:txBody>
      </p:sp>
      <p:sp>
        <p:nvSpPr>
          <p:cNvPr id="8" name="Text 4"/>
          <p:cNvSpPr/>
          <p:nvPr/>
        </p:nvSpPr>
        <p:spPr>
          <a:xfrm>
            <a:off x="10266878" y="2316599"/>
            <a:ext cx="3434596" cy="327660"/>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Source Sans Pro" pitchFamily="34" charset="0"/>
                <a:ea typeface="Source Sans Pro" pitchFamily="34" charset="-122"/>
                <a:cs typeface="Source Sans Pro" pitchFamily="34" charset="-120"/>
              </a:rPr>
              <a:t>Unique ID assigned to each customer</a:t>
            </a:r>
            <a:endParaRPr lang="en-US" sz="1600" dirty="0"/>
          </a:p>
        </p:txBody>
      </p:sp>
      <p:sp>
        <p:nvSpPr>
          <p:cNvPr id="9" name="Shape 5"/>
          <p:cNvSpPr/>
          <p:nvPr/>
        </p:nvSpPr>
        <p:spPr>
          <a:xfrm>
            <a:off x="6210657" y="2774633"/>
            <a:ext cx="7695486" cy="588407"/>
          </a:xfrm>
          <a:prstGeom prst="rect">
            <a:avLst/>
          </a:prstGeom>
          <a:solidFill>
            <a:srgbClr val="000000">
              <a:alpha val="4000"/>
            </a:srgbClr>
          </a:solidFill>
          <a:ln/>
        </p:spPr>
      </p:sp>
      <p:sp>
        <p:nvSpPr>
          <p:cNvPr id="10" name="Text 6"/>
          <p:cNvSpPr/>
          <p:nvPr/>
        </p:nvSpPr>
        <p:spPr>
          <a:xfrm>
            <a:off x="6415326" y="2905006"/>
            <a:ext cx="3434596" cy="327660"/>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Source Sans Pro" pitchFamily="34" charset="0"/>
                <a:ea typeface="Source Sans Pro" pitchFamily="34" charset="-122"/>
                <a:cs typeface="Source Sans Pro" pitchFamily="34" charset="-120"/>
              </a:rPr>
              <a:t>Gender</a:t>
            </a:r>
            <a:endParaRPr lang="en-US" sz="1600" dirty="0"/>
          </a:p>
        </p:txBody>
      </p:sp>
      <p:sp>
        <p:nvSpPr>
          <p:cNvPr id="11" name="Text 7"/>
          <p:cNvSpPr/>
          <p:nvPr/>
        </p:nvSpPr>
        <p:spPr>
          <a:xfrm>
            <a:off x="10266878" y="2905006"/>
            <a:ext cx="3434596" cy="327660"/>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Source Sans Pro" pitchFamily="34" charset="0"/>
                <a:ea typeface="Source Sans Pro" pitchFamily="34" charset="-122"/>
                <a:cs typeface="Source Sans Pro" pitchFamily="34" charset="-120"/>
              </a:rPr>
              <a:t>Gender of the customer (Male/Female)</a:t>
            </a:r>
            <a:endParaRPr lang="en-US" sz="1600" dirty="0"/>
          </a:p>
        </p:txBody>
      </p:sp>
      <p:sp>
        <p:nvSpPr>
          <p:cNvPr id="12" name="Shape 8"/>
          <p:cNvSpPr/>
          <p:nvPr/>
        </p:nvSpPr>
        <p:spPr>
          <a:xfrm>
            <a:off x="6210657" y="3363039"/>
            <a:ext cx="7695486" cy="588407"/>
          </a:xfrm>
          <a:prstGeom prst="rect">
            <a:avLst/>
          </a:prstGeom>
          <a:solidFill>
            <a:srgbClr val="FFFFFF">
              <a:alpha val="4000"/>
            </a:srgbClr>
          </a:solidFill>
          <a:ln/>
        </p:spPr>
      </p:sp>
      <p:sp>
        <p:nvSpPr>
          <p:cNvPr id="13" name="Text 9"/>
          <p:cNvSpPr/>
          <p:nvPr/>
        </p:nvSpPr>
        <p:spPr>
          <a:xfrm>
            <a:off x="6415326" y="3493413"/>
            <a:ext cx="3434596" cy="327660"/>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Source Sans Pro" pitchFamily="34" charset="0"/>
                <a:ea typeface="Source Sans Pro" pitchFamily="34" charset="-122"/>
                <a:cs typeface="Source Sans Pro" pitchFamily="34" charset="-120"/>
              </a:rPr>
              <a:t>Age</a:t>
            </a:r>
            <a:endParaRPr lang="en-US" sz="1600" dirty="0"/>
          </a:p>
        </p:txBody>
      </p:sp>
      <p:sp>
        <p:nvSpPr>
          <p:cNvPr id="14" name="Text 10"/>
          <p:cNvSpPr/>
          <p:nvPr/>
        </p:nvSpPr>
        <p:spPr>
          <a:xfrm>
            <a:off x="10266878" y="3493413"/>
            <a:ext cx="3434596" cy="327660"/>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Source Sans Pro" pitchFamily="34" charset="0"/>
                <a:ea typeface="Source Sans Pro" pitchFamily="34" charset="-122"/>
                <a:cs typeface="Source Sans Pro" pitchFamily="34" charset="-120"/>
              </a:rPr>
              <a:t>Age of the customer in years</a:t>
            </a:r>
            <a:endParaRPr lang="en-US" sz="1600" dirty="0"/>
          </a:p>
        </p:txBody>
      </p:sp>
      <p:sp>
        <p:nvSpPr>
          <p:cNvPr id="15" name="Shape 11"/>
          <p:cNvSpPr/>
          <p:nvPr/>
        </p:nvSpPr>
        <p:spPr>
          <a:xfrm>
            <a:off x="6210657" y="3951446"/>
            <a:ext cx="7695486" cy="916067"/>
          </a:xfrm>
          <a:prstGeom prst="rect">
            <a:avLst/>
          </a:prstGeom>
          <a:solidFill>
            <a:srgbClr val="000000">
              <a:alpha val="4000"/>
            </a:srgbClr>
          </a:solidFill>
          <a:ln/>
        </p:spPr>
      </p:sp>
      <p:sp>
        <p:nvSpPr>
          <p:cNvPr id="16" name="Text 12"/>
          <p:cNvSpPr/>
          <p:nvPr/>
        </p:nvSpPr>
        <p:spPr>
          <a:xfrm>
            <a:off x="6415326" y="4081820"/>
            <a:ext cx="3434596" cy="327660"/>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Source Sans Pro" pitchFamily="34" charset="0"/>
                <a:ea typeface="Source Sans Pro" pitchFamily="34" charset="-122"/>
                <a:cs typeface="Source Sans Pro" pitchFamily="34" charset="-120"/>
              </a:rPr>
              <a:t>Annual Income</a:t>
            </a:r>
            <a:endParaRPr lang="en-US" sz="1600" dirty="0"/>
          </a:p>
        </p:txBody>
      </p:sp>
      <p:sp>
        <p:nvSpPr>
          <p:cNvPr id="17" name="Text 13"/>
          <p:cNvSpPr/>
          <p:nvPr/>
        </p:nvSpPr>
        <p:spPr>
          <a:xfrm>
            <a:off x="10266878" y="4081820"/>
            <a:ext cx="3434596" cy="655320"/>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Source Sans Pro" pitchFamily="34" charset="0"/>
                <a:ea typeface="Source Sans Pro" pitchFamily="34" charset="-122"/>
                <a:cs typeface="Source Sans Pro" pitchFamily="34" charset="-120"/>
              </a:rPr>
              <a:t>Annual income of the customer in thousands of dollars</a:t>
            </a:r>
            <a:endParaRPr lang="en-US" sz="1600" dirty="0"/>
          </a:p>
        </p:txBody>
      </p:sp>
      <p:sp>
        <p:nvSpPr>
          <p:cNvPr id="18" name="Shape 14"/>
          <p:cNvSpPr/>
          <p:nvPr/>
        </p:nvSpPr>
        <p:spPr>
          <a:xfrm>
            <a:off x="6210657" y="4867513"/>
            <a:ext cx="7695486" cy="916067"/>
          </a:xfrm>
          <a:prstGeom prst="rect">
            <a:avLst/>
          </a:prstGeom>
          <a:solidFill>
            <a:srgbClr val="FFFFFF">
              <a:alpha val="4000"/>
            </a:srgbClr>
          </a:solidFill>
          <a:ln/>
        </p:spPr>
      </p:sp>
      <p:sp>
        <p:nvSpPr>
          <p:cNvPr id="19" name="Text 15"/>
          <p:cNvSpPr/>
          <p:nvPr/>
        </p:nvSpPr>
        <p:spPr>
          <a:xfrm>
            <a:off x="6415326" y="4997887"/>
            <a:ext cx="3434596" cy="327660"/>
          </a:xfrm>
          <a:prstGeom prst="rect">
            <a:avLst/>
          </a:prstGeom>
          <a:noFill/>
          <a:ln/>
        </p:spPr>
        <p:txBody>
          <a:bodyPr wrap="none" lIns="0" tIns="0" rIns="0" bIns="0" rtlCol="0" anchor="t"/>
          <a:lstStyle/>
          <a:p>
            <a:pPr marL="0" indent="0" algn="l">
              <a:lnSpc>
                <a:spcPts val="2550"/>
              </a:lnSpc>
              <a:buNone/>
            </a:pPr>
            <a:r>
              <a:rPr lang="en-US" sz="1600" dirty="0">
                <a:solidFill>
                  <a:srgbClr val="272525"/>
                </a:solidFill>
                <a:latin typeface="Source Sans Pro" pitchFamily="34" charset="0"/>
                <a:ea typeface="Source Sans Pro" pitchFamily="34" charset="-122"/>
                <a:cs typeface="Source Sans Pro" pitchFamily="34" charset="-120"/>
              </a:rPr>
              <a:t>Spending Score</a:t>
            </a:r>
            <a:endParaRPr lang="en-US" sz="1600" dirty="0"/>
          </a:p>
        </p:txBody>
      </p:sp>
      <p:sp>
        <p:nvSpPr>
          <p:cNvPr id="20" name="Text 16"/>
          <p:cNvSpPr/>
          <p:nvPr/>
        </p:nvSpPr>
        <p:spPr>
          <a:xfrm>
            <a:off x="10266878" y="4997887"/>
            <a:ext cx="3434596" cy="655320"/>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Source Sans Pro" pitchFamily="34" charset="0"/>
                <a:ea typeface="Source Sans Pro" pitchFamily="34" charset="-122"/>
                <a:cs typeface="Source Sans Pro" pitchFamily="34" charset="-120"/>
              </a:rPr>
              <a:t>Score assigned by the mall based on customer behavior</a:t>
            </a:r>
            <a:endParaRPr lang="en-US" sz="1600" dirty="0"/>
          </a:p>
        </p:txBody>
      </p:sp>
      <p:sp>
        <p:nvSpPr>
          <p:cNvPr id="21" name="Text 17"/>
          <p:cNvSpPr/>
          <p:nvPr/>
        </p:nvSpPr>
        <p:spPr>
          <a:xfrm>
            <a:off x="6203037" y="6021467"/>
            <a:ext cx="7710726" cy="982980"/>
          </a:xfrm>
          <a:prstGeom prst="rect">
            <a:avLst/>
          </a:prstGeom>
          <a:noFill/>
          <a:ln/>
        </p:spPr>
        <p:txBody>
          <a:bodyPr wrap="square" lIns="0" tIns="0" rIns="0" bIns="0" rtlCol="0" anchor="t"/>
          <a:lstStyle/>
          <a:p>
            <a:pPr marL="0" indent="0" algn="l">
              <a:lnSpc>
                <a:spcPts val="2550"/>
              </a:lnSpc>
              <a:buNone/>
            </a:pPr>
            <a:r>
              <a:rPr lang="en-US" sz="1600" dirty="0">
                <a:solidFill>
                  <a:srgbClr val="272525"/>
                </a:solidFill>
                <a:latin typeface="Source Sans Pro" pitchFamily="34" charset="0"/>
                <a:ea typeface="Source Sans Pro" pitchFamily="34" charset="-122"/>
                <a:cs typeface="Source Sans Pro" pitchFamily="34" charset="-120"/>
              </a:rPr>
              <a:t>The dataset, sourced from Kaggle, contains basic information about mall customers who signed up for a membership card. It is ideal for unsupervised learning, allowing us to group customers based on similarities in their attributes.</a:t>
            </a:r>
            <a:endParaRPr lang="en-US" sz="1600" dirty="0"/>
          </a:p>
        </p:txBody>
      </p:sp>
      <p:sp>
        <p:nvSpPr>
          <p:cNvPr id="22" name="Text 18"/>
          <p:cNvSpPr/>
          <p:nvPr/>
        </p:nvSpPr>
        <p:spPr>
          <a:xfrm>
            <a:off x="6203037" y="7234714"/>
            <a:ext cx="7710726" cy="327660"/>
          </a:xfrm>
          <a:prstGeom prst="rect">
            <a:avLst/>
          </a:prstGeom>
          <a:noFill/>
          <a:ln/>
        </p:spPr>
        <p:txBody>
          <a:bodyPr wrap="none" lIns="0" tIns="0" rIns="0" bIns="0" rtlCol="0" anchor="t"/>
          <a:lstStyle/>
          <a:p>
            <a:pPr marL="0" indent="0" algn="l">
              <a:lnSpc>
                <a:spcPts val="2550"/>
              </a:lnSpc>
              <a:buNone/>
            </a:pPr>
            <a:r>
              <a:rPr lang="en-US" sz="1600" dirty="0">
                <a:solidFill>
                  <a:srgbClr val="BE49DF"/>
                </a:solidFill>
                <a:latin typeface="Source Sans Pro" pitchFamily="34" charset="0"/>
                <a:ea typeface="Source Sans Pro" pitchFamily="34" charset="-122"/>
                <a:cs typeface="Source Sans Pro" pitchFamily="34" charset="-120"/>
              </a:rPr>
              <a:t>df.head()  #  in  given image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89821" y="574834"/>
            <a:ext cx="7737158" cy="1182291"/>
          </a:xfrm>
          <a:prstGeom prst="rect">
            <a:avLst/>
          </a:prstGeom>
          <a:noFill/>
          <a:ln/>
        </p:spPr>
        <p:txBody>
          <a:bodyPr wrap="square" lIns="0" tIns="0" rIns="0" bIns="0" rtlCol="0" anchor="t"/>
          <a:lstStyle/>
          <a:p>
            <a:pPr marL="0" indent="0" algn="l">
              <a:lnSpc>
                <a:spcPts val="4650"/>
              </a:lnSpc>
              <a:buNone/>
            </a:pPr>
            <a:r>
              <a:rPr lang="en-US" sz="3700" dirty="0">
                <a:solidFill>
                  <a:srgbClr val="000000"/>
                </a:solidFill>
                <a:latin typeface="Source Serif Pro Semi Bold" pitchFamily="34" charset="0"/>
                <a:ea typeface="Source Serif Pro Semi Bold" pitchFamily="34" charset="-122"/>
                <a:cs typeface="Source Serif Pro Semi Bold" pitchFamily="34" charset="-120"/>
              </a:rPr>
              <a:t>Data Cleaning and Preprocessing Steps Using pandas </a:t>
            </a:r>
            <a:endParaRPr lang="en-US" sz="3700" dirty="0"/>
          </a:p>
        </p:txBody>
      </p:sp>
      <p:pic>
        <p:nvPicPr>
          <p:cNvPr id="4" name="Image 1" descr="preencoded.png"/>
          <p:cNvPicPr>
            <a:picLocks noChangeAspect="1"/>
          </p:cNvPicPr>
          <p:nvPr/>
        </p:nvPicPr>
        <p:blipFill>
          <a:blip r:embed="rId4"/>
          <a:stretch>
            <a:fillRect/>
          </a:stretch>
        </p:blipFill>
        <p:spPr>
          <a:xfrm>
            <a:off x="6189821" y="2058591"/>
            <a:ext cx="1004887" cy="1468517"/>
          </a:xfrm>
          <a:prstGeom prst="rect">
            <a:avLst/>
          </a:prstGeom>
        </p:spPr>
      </p:pic>
      <p:sp>
        <p:nvSpPr>
          <p:cNvPr id="5" name="Text 1"/>
          <p:cNvSpPr/>
          <p:nvPr/>
        </p:nvSpPr>
        <p:spPr>
          <a:xfrm>
            <a:off x="7496175" y="2259568"/>
            <a:ext cx="2364581" cy="295513"/>
          </a:xfrm>
          <a:prstGeom prst="rect">
            <a:avLst/>
          </a:prstGeom>
          <a:noFill/>
          <a:ln/>
        </p:spPr>
        <p:txBody>
          <a:bodyPr wrap="none" lIns="0" tIns="0" rIns="0" bIns="0" rtlCol="0" anchor="t"/>
          <a:lstStyle/>
          <a:p>
            <a:pPr marL="0" indent="0" algn="l">
              <a:lnSpc>
                <a:spcPts val="2300"/>
              </a:lnSpc>
              <a:buNone/>
            </a:pPr>
            <a:r>
              <a:rPr lang="en-US" sz="1850" dirty="0">
                <a:solidFill>
                  <a:srgbClr val="272525"/>
                </a:solidFill>
                <a:latin typeface="Source Serif Pro Semi Bold" pitchFamily="34" charset="0"/>
                <a:ea typeface="Source Serif Pro Semi Bold" pitchFamily="34" charset="-122"/>
                <a:cs typeface="Source Serif Pro Semi Bold" pitchFamily="34" charset="-120"/>
              </a:rPr>
              <a:t>Missing Values Check</a:t>
            </a:r>
            <a:endParaRPr lang="en-US" sz="1850" dirty="0"/>
          </a:p>
        </p:txBody>
      </p:sp>
      <p:sp>
        <p:nvSpPr>
          <p:cNvPr id="6" name="Text 2"/>
          <p:cNvSpPr/>
          <p:nvPr/>
        </p:nvSpPr>
        <p:spPr>
          <a:xfrm>
            <a:off x="7496175" y="2675573"/>
            <a:ext cx="6430804" cy="65055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Source Sans Pro" pitchFamily="34" charset="0"/>
                <a:ea typeface="Source Sans Pro" pitchFamily="34" charset="-122"/>
                <a:cs typeface="Source Sans Pro" pitchFamily="34" charset="-120"/>
              </a:rPr>
              <a:t>No missing values were found using </a:t>
            </a:r>
            <a:r>
              <a:rPr lang="en-US" sz="1550" dirty="0">
                <a:solidFill>
                  <a:srgbClr val="272525"/>
                </a:solidFill>
                <a:highlight>
                  <a:srgbClr val="F0D4F7"/>
                </a:highlight>
                <a:latin typeface="Consolas" pitchFamily="34" charset="0"/>
                <a:ea typeface="Consolas" pitchFamily="34" charset="-122"/>
                <a:cs typeface="Consolas" pitchFamily="34" charset="-120"/>
              </a:rPr>
              <a:t>df.isnull().sum()</a:t>
            </a:r>
            <a:r>
              <a:rPr lang="en-US" sz="1550" dirty="0">
                <a:solidFill>
                  <a:srgbClr val="272525"/>
                </a:solidFill>
                <a:latin typeface="Source Sans Pro" pitchFamily="34" charset="0"/>
                <a:ea typeface="Source Sans Pro" pitchFamily="34" charset="-122"/>
                <a:cs typeface="Source Sans Pro" pitchFamily="34" charset="-120"/>
              </a:rPr>
              <a:t>, eliminating the need for imputation.</a:t>
            </a:r>
            <a:endParaRPr lang="en-US" sz="1550" dirty="0"/>
          </a:p>
        </p:txBody>
      </p:sp>
      <p:pic>
        <p:nvPicPr>
          <p:cNvPr id="7" name="Image 2" descr="preencoded.png"/>
          <p:cNvPicPr>
            <a:picLocks noChangeAspect="1"/>
          </p:cNvPicPr>
          <p:nvPr/>
        </p:nvPicPr>
        <p:blipFill>
          <a:blip r:embed="rId5"/>
          <a:stretch>
            <a:fillRect/>
          </a:stretch>
        </p:blipFill>
        <p:spPr>
          <a:xfrm>
            <a:off x="6189821" y="3527108"/>
            <a:ext cx="1004887" cy="1468517"/>
          </a:xfrm>
          <a:prstGeom prst="rect">
            <a:avLst/>
          </a:prstGeom>
        </p:spPr>
      </p:pic>
      <p:sp>
        <p:nvSpPr>
          <p:cNvPr id="8" name="Text 3"/>
          <p:cNvSpPr/>
          <p:nvPr/>
        </p:nvSpPr>
        <p:spPr>
          <a:xfrm>
            <a:off x="7496175" y="3728085"/>
            <a:ext cx="2830473" cy="295513"/>
          </a:xfrm>
          <a:prstGeom prst="rect">
            <a:avLst/>
          </a:prstGeom>
          <a:noFill/>
          <a:ln/>
        </p:spPr>
        <p:txBody>
          <a:bodyPr wrap="none" lIns="0" tIns="0" rIns="0" bIns="0" rtlCol="0" anchor="t"/>
          <a:lstStyle/>
          <a:p>
            <a:pPr marL="0" indent="0" algn="l">
              <a:lnSpc>
                <a:spcPts val="2300"/>
              </a:lnSpc>
              <a:buNone/>
            </a:pPr>
            <a:r>
              <a:rPr lang="en-US" sz="1850" dirty="0">
                <a:solidFill>
                  <a:srgbClr val="272525"/>
                </a:solidFill>
                <a:latin typeface="Source Serif Pro Semi Bold" pitchFamily="34" charset="0"/>
                <a:ea typeface="Source Serif Pro Semi Bold" pitchFamily="34" charset="-122"/>
                <a:cs typeface="Source Serif Pro Semi Bold" pitchFamily="34" charset="-120"/>
              </a:rPr>
              <a:t>Encoding Categorical Data</a:t>
            </a:r>
            <a:endParaRPr lang="en-US" sz="1850" dirty="0"/>
          </a:p>
        </p:txBody>
      </p:sp>
      <p:sp>
        <p:nvSpPr>
          <p:cNvPr id="9" name="Text 4"/>
          <p:cNvSpPr/>
          <p:nvPr/>
        </p:nvSpPr>
        <p:spPr>
          <a:xfrm>
            <a:off x="7496175" y="4144089"/>
            <a:ext cx="6430804" cy="65055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Source Sans Pro" pitchFamily="34" charset="0"/>
                <a:ea typeface="Source Sans Pro" pitchFamily="34" charset="-122"/>
                <a:cs typeface="Source Sans Pro" pitchFamily="34" charset="-120"/>
              </a:rPr>
              <a:t>The 'Gender' column was converted to numerical form (Male=1, Female=0) using </a:t>
            </a:r>
            <a:r>
              <a:rPr lang="en-US" sz="1550" dirty="0">
                <a:solidFill>
                  <a:srgbClr val="272525"/>
                </a:solidFill>
                <a:highlight>
                  <a:srgbClr val="F0D4F7"/>
                </a:highlight>
                <a:latin typeface="Consolas" pitchFamily="34" charset="0"/>
                <a:ea typeface="Consolas" pitchFamily="34" charset="-122"/>
                <a:cs typeface="Consolas" pitchFamily="34" charset="-120"/>
              </a:rPr>
              <a:t>LabelEncoder</a:t>
            </a:r>
            <a:r>
              <a:rPr lang="en-US" sz="1550" dirty="0">
                <a:solidFill>
                  <a:srgbClr val="272525"/>
                </a:solidFill>
                <a:latin typeface="Source Sans Pro" pitchFamily="34" charset="0"/>
                <a:ea typeface="Source Sans Pro" pitchFamily="34" charset="-122"/>
                <a:cs typeface="Source Sans Pro" pitchFamily="34" charset="-120"/>
              </a:rPr>
              <a:t> for algorithm compatibility.</a:t>
            </a:r>
            <a:endParaRPr lang="en-US" sz="1550" dirty="0"/>
          </a:p>
        </p:txBody>
      </p:sp>
      <p:pic>
        <p:nvPicPr>
          <p:cNvPr id="10" name="Image 3" descr="preencoded.png"/>
          <p:cNvPicPr>
            <a:picLocks noChangeAspect="1"/>
          </p:cNvPicPr>
          <p:nvPr/>
        </p:nvPicPr>
        <p:blipFill>
          <a:blip r:embed="rId6"/>
          <a:stretch>
            <a:fillRect/>
          </a:stretch>
        </p:blipFill>
        <p:spPr>
          <a:xfrm>
            <a:off x="6189821" y="4995624"/>
            <a:ext cx="1004887" cy="1789986"/>
          </a:xfrm>
          <a:prstGeom prst="rect">
            <a:avLst/>
          </a:prstGeom>
        </p:spPr>
      </p:pic>
      <p:sp>
        <p:nvSpPr>
          <p:cNvPr id="11" name="Text 5"/>
          <p:cNvSpPr/>
          <p:nvPr/>
        </p:nvSpPr>
        <p:spPr>
          <a:xfrm>
            <a:off x="7496175" y="5196602"/>
            <a:ext cx="2936081" cy="295513"/>
          </a:xfrm>
          <a:prstGeom prst="rect">
            <a:avLst/>
          </a:prstGeom>
          <a:noFill/>
          <a:ln/>
        </p:spPr>
        <p:txBody>
          <a:bodyPr wrap="none" lIns="0" tIns="0" rIns="0" bIns="0" rtlCol="0" anchor="t"/>
          <a:lstStyle/>
          <a:p>
            <a:pPr marL="0" indent="0" algn="l">
              <a:lnSpc>
                <a:spcPts val="2300"/>
              </a:lnSpc>
              <a:buNone/>
            </a:pPr>
            <a:r>
              <a:rPr lang="en-US" sz="1850" dirty="0">
                <a:solidFill>
                  <a:srgbClr val="272525"/>
                </a:solidFill>
                <a:latin typeface="Source Serif Pro Semi Bold" pitchFamily="34" charset="0"/>
                <a:ea typeface="Source Serif Pro Semi Bold" pitchFamily="34" charset="-122"/>
                <a:cs typeface="Source Serif Pro Semi Bold" pitchFamily="34" charset="-120"/>
              </a:rPr>
              <a:t>Scaling Numerical Features</a:t>
            </a:r>
            <a:endParaRPr lang="en-US" sz="1850" dirty="0"/>
          </a:p>
        </p:txBody>
      </p:sp>
      <p:sp>
        <p:nvSpPr>
          <p:cNvPr id="12" name="Text 6"/>
          <p:cNvSpPr/>
          <p:nvPr/>
        </p:nvSpPr>
        <p:spPr>
          <a:xfrm>
            <a:off x="7496175" y="5612606"/>
            <a:ext cx="6430804" cy="972026"/>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Source Sans Pro" pitchFamily="34" charset="0"/>
                <a:ea typeface="Source Sans Pro" pitchFamily="34" charset="-122"/>
                <a:cs typeface="Source Sans Pro" pitchFamily="34" charset="-120"/>
              </a:rPr>
              <a:t>Features like Age, Annual Income, and Spending Score were scaled using </a:t>
            </a:r>
            <a:r>
              <a:rPr lang="en-US" sz="1550" dirty="0">
                <a:solidFill>
                  <a:srgbClr val="272525"/>
                </a:solidFill>
                <a:highlight>
                  <a:srgbClr val="F0D4F7"/>
                </a:highlight>
                <a:latin typeface="Consolas" pitchFamily="34" charset="0"/>
                <a:ea typeface="Consolas" pitchFamily="34" charset="-122"/>
                <a:cs typeface="Consolas" pitchFamily="34" charset="-120"/>
              </a:rPr>
              <a:t>StandardScaler</a:t>
            </a:r>
            <a:r>
              <a:rPr lang="en-US" sz="1550" dirty="0">
                <a:solidFill>
                  <a:srgbClr val="272525"/>
                </a:solidFill>
                <a:latin typeface="Source Sans Pro" pitchFamily="34" charset="0"/>
                <a:ea typeface="Source Sans Pro" pitchFamily="34" charset="-122"/>
                <a:cs typeface="Source Sans Pro" pitchFamily="34" charset="-120"/>
              </a:rPr>
              <a:t> to ensure they are within the same range, crucial for K-Means clustering.</a:t>
            </a:r>
            <a:endParaRPr lang="en-US" sz="1550" dirty="0"/>
          </a:p>
        </p:txBody>
      </p:sp>
      <p:sp>
        <p:nvSpPr>
          <p:cNvPr id="13" name="Text 7"/>
          <p:cNvSpPr/>
          <p:nvPr/>
        </p:nvSpPr>
        <p:spPr>
          <a:xfrm>
            <a:off x="6189821" y="7011710"/>
            <a:ext cx="7737158" cy="64293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Source Sans Pro" pitchFamily="34" charset="0"/>
                <a:ea typeface="Source Sans Pro" pitchFamily="34" charset="-122"/>
                <a:cs typeface="Source Sans Pro" pitchFamily="34" charset="-120"/>
              </a:rPr>
              <a:t>Before applying any machine learning algorithm, data cleaning and preparation are essential for accurate and meaningful results.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25887" y="334566"/>
            <a:ext cx="5276374" cy="357902"/>
          </a:xfrm>
          <a:prstGeom prst="rect">
            <a:avLst/>
          </a:prstGeom>
          <a:noFill/>
          <a:ln/>
        </p:spPr>
        <p:txBody>
          <a:bodyPr wrap="none" lIns="0" tIns="0" rIns="0" bIns="0" rtlCol="0" anchor="t"/>
          <a:lstStyle/>
          <a:p>
            <a:pPr marL="0" indent="0" algn="l">
              <a:lnSpc>
                <a:spcPts val="2800"/>
              </a:lnSpc>
              <a:buNone/>
            </a:pPr>
            <a:r>
              <a:rPr lang="en-US" sz="2250" dirty="0">
                <a:solidFill>
                  <a:srgbClr val="000000"/>
                </a:solidFill>
                <a:latin typeface="Source Serif Pro Semi Bold" pitchFamily="34" charset="0"/>
                <a:ea typeface="Source Serif Pro Semi Bold" pitchFamily="34" charset="-122"/>
                <a:cs typeface="Source Serif Pro Semi Bold" pitchFamily="34" charset="-120"/>
              </a:rPr>
              <a:t>Exploratory Data Analysis (EDA) Insights</a:t>
            </a:r>
            <a:endParaRPr lang="en-US" sz="2250" dirty="0"/>
          </a:p>
        </p:txBody>
      </p:sp>
      <p:sp>
        <p:nvSpPr>
          <p:cNvPr id="3" name="Text 1"/>
          <p:cNvSpPr/>
          <p:nvPr/>
        </p:nvSpPr>
        <p:spPr>
          <a:xfrm>
            <a:off x="425887" y="996672"/>
            <a:ext cx="1431488" cy="178832"/>
          </a:xfrm>
          <a:prstGeom prst="rect">
            <a:avLst/>
          </a:prstGeom>
          <a:noFill/>
          <a:ln/>
        </p:spPr>
        <p:txBody>
          <a:bodyPr wrap="none" lIns="0" tIns="0" rIns="0" bIns="0" rtlCol="0" anchor="t"/>
          <a:lstStyle/>
          <a:p>
            <a:pPr marL="0" indent="0" algn="l">
              <a:lnSpc>
                <a:spcPts val="1400"/>
              </a:lnSpc>
              <a:buNone/>
            </a:pPr>
            <a:r>
              <a:rPr lang="en-US" sz="1100" dirty="0">
                <a:solidFill>
                  <a:srgbClr val="000000"/>
                </a:solidFill>
                <a:latin typeface="Source Serif Pro Semi Bold" pitchFamily="34" charset="0"/>
                <a:ea typeface="Source Serif Pro Semi Bold" pitchFamily="34" charset="-122"/>
                <a:cs typeface="Source Serif Pro Semi Bold" pitchFamily="34" charset="-120"/>
              </a:rPr>
              <a:t>Distribution Plots</a:t>
            </a:r>
            <a:endParaRPr lang="en-US" sz="1100" dirty="0"/>
          </a:p>
        </p:txBody>
      </p:sp>
      <p:sp>
        <p:nvSpPr>
          <p:cNvPr id="4" name="Text 2"/>
          <p:cNvSpPr/>
          <p:nvPr/>
        </p:nvSpPr>
        <p:spPr>
          <a:xfrm>
            <a:off x="425887" y="1297186"/>
            <a:ext cx="6740962" cy="389334"/>
          </a:xfrm>
          <a:prstGeom prst="rect">
            <a:avLst/>
          </a:prstGeom>
          <a:noFill/>
          <a:ln/>
        </p:spPr>
        <p:txBody>
          <a:bodyPr wrap="square" lIns="0" tIns="0" rIns="0" bIns="0" rtlCol="0" anchor="t"/>
          <a:lstStyle/>
          <a:p>
            <a:pPr marL="0" indent="0" algn="l">
              <a:lnSpc>
                <a:spcPts val="1500"/>
              </a:lnSpc>
              <a:buNone/>
            </a:pPr>
            <a:r>
              <a:rPr lang="en-US" sz="950" dirty="0">
                <a:solidFill>
                  <a:srgbClr val="272525"/>
                </a:solidFill>
                <a:latin typeface="Source Sans Pro" pitchFamily="34" charset="0"/>
                <a:ea typeface="Source Sans Pro" pitchFamily="34" charset="-122"/>
                <a:cs typeface="Source Sans Pro" pitchFamily="34" charset="-120"/>
              </a:rPr>
              <a:t>Histograms and density plots revealed that Age has a normal-like distribution (most customers between 20-40), while Income and Spending Score show varied spreads, ideal for segmentation.</a:t>
            </a:r>
            <a:endParaRPr lang="en-US" sz="950" dirty="0"/>
          </a:p>
        </p:txBody>
      </p:sp>
      <p:sp>
        <p:nvSpPr>
          <p:cNvPr id="5" name="Text 3"/>
          <p:cNvSpPr/>
          <p:nvPr/>
        </p:nvSpPr>
        <p:spPr>
          <a:xfrm>
            <a:off x="425887" y="1808202"/>
            <a:ext cx="1431488" cy="178832"/>
          </a:xfrm>
          <a:prstGeom prst="rect">
            <a:avLst/>
          </a:prstGeom>
          <a:noFill/>
          <a:ln/>
        </p:spPr>
        <p:txBody>
          <a:bodyPr wrap="none" lIns="0" tIns="0" rIns="0" bIns="0" rtlCol="0" anchor="t"/>
          <a:lstStyle/>
          <a:p>
            <a:pPr marL="0" indent="0" algn="l">
              <a:lnSpc>
                <a:spcPts val="1400"/>
              </a:lnSpc>
              <a:buNone/>
            </a:pPr>
            <a:r>
              <a:rPr lang="en-US" sz="1100" dirty="0">
                <a:solidFill>
                  <a:srgbClr val="000000"/>
                </a:solidFill>
                <a:latin typeface="Source Serif Pro Semi Bold" pitchFamily="34" charset="0"/>
                <a:ea typeface="Source Serif Pro Semi Bold" pitchFamily="34" charset="-122"/>
                <a:cs typeface="Source Serif Pro Semi Bold" pitchFamily="34" charset="-120"/>
              </a:rPr>
              <a:t>Gender Distribution</a:t>
            </a:r>
            <a:endParaRPr lang="en-US" sz="1100" dirty="0"/>
          </a:p>
        </p:txBody>
      </p:sp>
      <p:sp>
        <p:nvSpPr>
          <p:cNvPr id="6" name="Text 4"/>
          <p:cNvSpPr/>
          <p:nvPr/>
        </p:nvSpPr>
        <p:spPr>
          <a:xfrm>
            <a:off x="425887" y="2108716"/>
            <a:ext cx="6740962" cy="194667"/>
          </a:xfrm>
          <a:prstGeom prst="rect">
            <a:avLst/>
          </a:prstGeom>
          <a:noFill/>
          <a:ln/>
        </p:spPr>
        <p:txBody>
          <a:bodyPr wrap="none" lIns="0" tIns="0" rIns="0" bIns="0" rtlCol="0" anchor="t"/>
          <a:lstStyle/>
          <a:p>
            <a:pPr marL="0" indent="0" algn="l">
              <a:lnSpc>
                <a:spcPts val="1500"/>
              </a:lnSpc>
              <a:buNone/>
            </a:pPr>
            <a:r>
              <a:rPr lang="en-US" sz="950" dirty="0">
                <a:solidFill>
                  <a:srgbClr val="272525"/>
                </a:solidFill>
                <a:latin typeface="Source Sans Pro" pitchFamily="34" charset="0"/>
                <a:ea typeface="Source Sans Pro" pitchFamily="34" charset="-122"/>
                <a:cs typeface="Source Sans Pro" pitchFamily="34" charset="-120"/>
              </a:rPr>
              <a:t>A countplot showed a fairly balanced gender distribution within the dataset.</a:t>
            </a:r>
            <a:endParaRPr lang="en-US" sz="950" dirty="0"/>
          </a:p>
        </p:txBody>
      </p:sp>
      <p:pic>
        <p:nvPicPr>
          <p:cNvPr id="7" name="Image 0" descr="preencoded.png"/>
          <p:cNvPicPr>
            <a:picLocks noChangeAspect="1"/>
          </p:cNvPicPr>
          <p:nvPr/>
        </p:nvPicPr>
        <p:blipFill>
          <a:blip r:embed="rId3"/>
          <a:stretch>
            <a:fillRect/>
          </a:stretch>
        </p:blipFill>
        <p:spPr>
          <a:xfrm>
            <a:off x="7166849" y="119971"/>
            <a:ext cx="7037664" cy="8109629"/>
          </a:xfrm>
          <a:prstGeom prst="rect">
            <a:avLst/>
          </a:prstGeom>
        </p:spPr>
      </p:pic>
      <p:sp>
        <p:nvSpPr>
          <p:cNvPr id="8" name="Text 5"/>
          <p:cNvSpPr/>
          <p:nvPr/>
        </p:nvSpPr>
        <p:spPr>
          <a:xfrm>
            <a:off x="425887" y="10867311"/>
            <a:ext cx="13778627" cy="389334"/>
          </a:xfrm>
          <a:prstGeom prst="rect">
            <a:avLst/>
          </a:prstGeom>
          <a:noFill/>
          <a:ln/>
        </p:spPr>
        <p:txBody>
          <a:bodyPr wrap="square" lIns="0" tIns="0" rIns="0" bIns="0" rtlCol="0" anchor="t"/>
          <a:lstStyle/>
          <a:p>
            <a:pPr marL="0" indent="0" algn="l">
              <a:lnSpc>
                <a:spcPts val="1500"/>
              </a:lnSpc>
              <a:buNone/>
            </a:pPr>
            <a:r>
              <a:rPr lang="en-US" sz="950" dirty="0">
                <a:solidFill>
                  <a:srgbClr val="272525"/>
                </a:solidFill>
                <a:latin typeface="Source Sans Pro" pitchFamily="34" charset="0"/>
                <a:ea typeface="Source Sans Pro" pitchFamily="34" charset="-122"/>
                <a:cs typeface="Source Sans Pro" pitchFamily="34" charset="-120"/>
              </a:rPr>
              <a:t>EDA helps in understanding data distribution, trends, and relationships before applying machine learning algorithms. A correlation heatmap indicated a moderate correlation between Annual Income and Spending Score, with other features showing low or no strong linear correlation.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18862" y="329089"/>
            <a:ext cx="4036576" cy="351949"/>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Source Serif Pro Semi Bold" pitchFamily="34" charset="0"/>
                <a:ea typeface="Source Serif Pro Semi Bold" pitchFamily="34" charset="-122"/>
                <a:cs typeface="Source Serif Pro Semi Bold" pitchFamily="34" charset="-120"/>
              </a:rPr>
              <a:t>Optimal Number of Clusters (K)</a:t>
            </a:r>
            <a:endParaRPr lang="en-US" sz="2200" dirty="0"/>
          </a:p>
        </p:txBody>
      </p:sp>
      <p:sp>
        <p:nvSpPr>
          <p:cNvPr id="3" name="Text 1"/>
          <p:cNvSpPr/>
          <p:nvPr/>
        </p:nvSpPr>
        <p:spPr>
          <a:xfrm>
            <a:off x="418862" y="980123"/>
            <a:ext cx="1408033" cy="175974"/>
          </a:xfrm>
          <a:prstGeom prst="rect">
            <a:avLst/>
          </a:prstGeom>
          <a:noFill/>
          <a:ln/>
        </p:spPr>
        <p:txBody>
          <a:bodyPr wrap="none" lIns="0" tIns="0" rIns="0" bIns="0" rtlCol="0" anchor="t"/>
          <a:lstStyle/>
          <a:p>
            <a:pPr marL="0" indent="0" algn="l">
              <a:lnSpc>
                <a:spcPts val="1350"/>
              </a:lnSpc>
              <a:buNone/>
            </a:pPr>
            <a:r>
              <a:rPr lang="en-US" sz="1100" b="1" dirty="0">
                <a:solidFill>
                  <a:srgbClr val="000000"/>
                </a:solidFill>
                <a:latin typeface="Source Serif Pro Semi Bold" pitchFamily="34" charset="0"/>
                <a:ea typeface="Source Serif Pro Semi Bold" pitchFamily="34" charset="-122"/>
                <a:cs typeface="Source Serif Pro Semi Bold" pitchFamily="34" charset="-120"/>
              </a:rPr>
              <a:t>Elbow Method</a:t>
            </a:r>
            <a:endParaRPr lang="en-US" sz="1100" b="1" dirty="0"/>
          </a:p>
        </p:txBody>
      </p:sp>
      <p:sp>
        <p:nvSpPr>
          <p:cNvPr id="4" name="Text 2"/>
          <p:cNvSpPr/>
          <p:nvPr/>
        </p:nvSpPr>
        <p:spPr>
          <a:xfrm>
            <a:off x="418862" y="1275756"/>
            <a:ext cx="6750368" cy="323136"/>
          </a:xfrm>
          <a:prstGeom prst="rect">
            <a:avLst/>
          </a:prstGeom>
          <a:noFill/>
          <a:ln/>
        </p:spPr>
        <p:txBody>
          <a:bodyPr wrap="square" lIns="0" tIns="0" rIns="0" bIns="0" rtlCol="0" anchor="t"/>
          <a:lstStyle/>
          <a:p>
            <a:pPr marL="0" indent="0" algn="l">
              <a:lnSpc>
                <a:spcPts val="1500"/>
              </a:lnSpc>
              <a:buNone/>
            </a:pPr>
            <a:r>
              <a:rPr lang="en-US" sz="900" dirty="0">
                <a:solidFill>
                  <a:srgbClr val="272525"/>
                </a:solidFill>
                <a:latin typeface="Source Sans Pro" pitchFamily="34" charset="0"/>
                <a:ea typeface="Source Sans Pro" pitchFamily="34" charset="-122"/>
                <a:cs typeface="Source Sans Pro" pitchFamily="34" charset="-120"/>
              </a:rPr>
              <a:t>By plotting the Within-Cluster-Sum-of-Squares (WCSS) against the number of clusters, an "elbow point" was observed around K=5, indicating diminishing returns beyond this point.</a:t>
            </a:r>
            <a:endParaRPr lang="en-US" sz="900" dirty="0"/>
          </a:p>
        </p:txBody>
      </p:sp>
      <p:sp>
        <p:nvSpPr>
          <p:cNvPr id="5" name="Text 3"/>
          <p:cNvSpPr/>
          <p:nvPr/>
        </p:nvSpPr>
        <p:spPr>
          <a:xfrm>
            <a:off x="418862" y="1778318"/>
            <a:ext cx="1408033" cy="175974"/>
          </a:xfrm>
          <a:prstGeom prst="rect">
            <a:avLst/>
          </a:prstGeom>
          <a:noFill/>
          <a:ln/>
        </p:spPr>
        <p:txBody>
          <a:bodyPr wrap="none" lIns="0" tIns="0" rIns="0" bIns="0" rtlCol="0" anchor="t"/>
          <a:lstStyle/>
          <a:p>
            <a:pPr marL="0" indent="0" algn="l">
              <a:lnSpc>
                <a:spcPts val="1350"/>
              </a:lnSpc>
              <a:buNone/>
            </a:pPr>
            <a:r>
              <a:rPr lang="en-US" sz="1100" b="1" dirty="0">
                <a:solidFill>
                  <a:srgbClr val="000000"/>
                </a:solidFill>
                <a:latin typeface="Source Serif Pro Semi Bold" pitchFamily="34" charset="0"/>
                <a:ea typeface="Source Serif Pro Semi Bold" pitchFamily="34" charset="-122"/>
                <a:cs typeface="Source Serif Pro Semi Bold" pitchFamily="34" charset="-120"/>
              </a:rPr>
              <a:t>Silhouette Score</a:t>
            </a:r>
            <a:endParaRPr lang="en-US" sz="1100" b="1" dirty="0"/>
          </a:p>
        </p:txBody>
      </p:sp>
      <p:sp>
        <p:nvSpPr>
          <p:cNvPr id="6" name="Text 4"/>
          <p:cNvSpPr/>
          <p:nvPr/>
        </p:nvSpPr>
        <p:spPr>
          <a:xfrm>
            <a:off x="418862" y="2093550"/>
            <a:ext cx="6750368" cy="726611"/>
          </a:xfrm>
          <a:prstGeom prst="rect">
            <a:avLst/>
          </a:prstGeom>
          <a:noFill/>
          <a:ln/>
        </p:spPr>
        <p:txBody>
          <a:bodyPr wrap="square" lIns="0" tIns="0" rIns="0" bIns="0" rtlCol="0" anchor="t"/>
          <a:lstStyle/>
          <a:p>
            <a:pPr marL="0" indent="0" algn="l">
              <a:lnSpc>
                <a:spcPts val="1500"/>
              </a:lnSpc>
              <a:buNone/>
            </a:pPr>
            <a:r>
              <a:rPr lang="en-US" sz="900" dirty="0">
                <a:solidFill>
                  <a:srgbClr val="272525"/>
                </a:solidFill>
                <a:latin typeface="Source Sans Pro" pitchFamily="34" charset="0"/>
                <a:ea typeface="Source Sans Pro" pitchFamily="34" charset="-122"/>
                <a:cs typeface="Source Sans Pro" pitchFamily="34" charset="-120"/>
              </a:rPr>
              <a:t>The Silhouette Score, which measures cluster similarity, also showed its highest value around K=5, confirming the optimal number of clusters.</a:t>
            </a:r>
            <a:endParaRPr lang="en-US" sz="900" dirty="0"/>
          </a:p>
        </p:txBody>
      </p:sp>
      <p:pic>
        <p:nvPicPr>
          <p:cNvPr id="7" name="Image 0" descr="preencoded.png"/>
          <p:cNvPicPr>
            <a:picLocks noChangeAspect="1"/>
          </p:cNvPicPr>
          <p:nvPr/>
        </p:nvPicPr>
        <p:blipFill>
          <a:blip r:embed="rId3"/>
          <a:stretch>
            <a:fillRect/>
          </a:stretch>
        </p:blipFill>
        <p:spPr>
          <a:xfrm>
            <a:off x="7699410" y="35946"/>
            <a:ext cx="6750368" cy="8058187"/>
          </a:xfrm>
          <a:prstGeom prst="rect">
            <a:avLst/>
          </a:prstGeom>
        </p:spPr>
      </p:pic>
      <p:sp>
        <p:nvSpPr>
          <p:cNvPr id="8" name="Text 5"/>
          <p:cNvSpPr/>
          <p:nvPr/>
        </p:nvSpPr>
        <p:spPr>
          <a:xfrm>
            <a:off x="418862" y="11382256"/>
            <a:ext cx="13792676" cy="191453"/>
          </a:xfrm>
          <a:prstGeom prst="rect">
            <a:avLst/>
          </a:prstGeom>
          <a:noFill/>
          <a:ln/>
        </p:spPr>
        <p:txBody>
          <a:bodyPr wrap="none" lIns="0" tIns="0" rIns="0" bIns="0" rtlCol="0" anchor="t"/>
          <a:lstStyle/>
          <a:p>
            <a:pPr marL="0" indent="0" algn="l">
              <a:lnSpc>
                <a:spcPts val="1500"/>
              </a:lnSpc>
              <a:buNone/>
            </a:pPr>
            <a:r>
              <a:rPr lang="en-US" sz="900" dirty="0">
                <a:solidFill>
                  <a:srgbClr val="272525"/>
                </a:solidFill>
                <a:latin typeface="Source Sans Pro" pitchFamily="34" charset="0"/>
                <a:ea typeface="Source Sans Pro" pitchFamily="34" charset="-122"/>
                <a:cs typeface="Source Sans Pro" pitchFamily="34" charset="-120"/>
              </a:rPr>
              <a:t>Selecting the right number of clusters (K) is crucial for K-Means. Both methods consistently pointed to K=5 as the optimal choice for final segmentation.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629376"/>
          </a:xfrm>
          <a:prstGeom prst="rect">
            <a:avLst/>
          </a:prstGeom>
        </p:spPr>
      </p:pic>
      <p:sp>
        <p:nvSpPr>
          <p:cNvPr id="3" name="Text 0"/>
          <p:cNvSpPr/>
          <p:nvPr/>
        </p:nvSpPr>
        <p:spPr>
          <a:xfrm>
            <a:off x="736163" y="3207782"/>
            <a:ext cx="6520339" cy="618649"/>
          </a:xfrm>
          <a:prstGeom prst="rect">
            <a:avLst/>
          </a:prstGeom>
          <a:noFill/>
          <a:ln/>
        </p:spPr>
        <p:txBody>
          <a:bodyPr wrap="none" lIns="0" tIns="0" rIns="0" bIns="0" rtlCol="0" anchor="t"/>
          <a:lstStyle/>
          <a:p>
            <a:pPr marL="0" indent="0" algn="l">
              <a:lnSpc>
                <a:spcPts val="4850"/>
              </a:lnSpc>
              <a:buNone/>
            </a:pPr>
            <a:r>
              <a:rPr lang="en-US" sz="3850" dirty="0">
                <a:solidFill>
                  <a:srgbClr val="000000"/>
                </a:solidFill>
                <a:latin typeface="Source Serif Pro Semi Bold" pitchFamily="34" charset="0"/>
                <a:ea typeface="Source Serif Pro Semi Bold" pitchFamily="34" charset="-122"/>
                <a:cs typeface="Source Serif Pro Semi Bold" pitchFamily="34" charset="-120"/>
              </a:rPr>
              <a:t>Applying K-Means Clustering</a:t>
            </a:r>
            <a:endParaRPr lang="en-US" sz="3850" dirty="0"/>
          </a:p>
        </p:txBody>
      </p:sp>
      <p:sp>
        <p:nvSpPr>
          <p:cNvPr id="4" name="Shape 1"/>
          <p:cNvSpPr/>
          <p:nvPr/>
        </p:nvSpPr>
        <p:spPr>
          <a:xfrm>
            <a:off x="736163" y="4772978"/>
            <a:ext cx="4175641" cy="210264"/>
          </a:xfrm>
          <a:prstGeom prst="roundRect">
            <a:avLst>
              <a:gd name="adj" fmla="val 42018"/>
            </a:avLst>
          </a:prstGeom>
          <a:solidFill>
            <a:srgbClr val="F0D4F7"/>
          </a:solidFill>
          <a:ln w="7620">
            <a:solidFill>
              <a:srgbClr val="D6BADD"/>
            </a:solidFill>
            <a:prstDash val="solid"/>
          </a:ln>
        </p:spPr>
      </p:sp>
      <p:sp>
        <p:nvSpPr>
          <p:cNvPr id="5" name="Text 2"/>
          <p:cNvSpPr/>
          <p:nvPr/>
        </p:nvSpPr>
        <p:spPr>
          <a:xfrm>
            <a:off x="736163" y="5298758"/>
            <a:ext cx="2474714" cy="309324"/>
          </a:xfrm>
          <a:prstGeom prst="rect">
            <a:avLst/>
          </a:prstGeom>
          <a:noFill/>
          <a:ln/>
        </p:spPr>
        <p:txBody>
          <a:bodyPr wrap="none" lIns="0" tIns="0" rIns="0" bIns="0" rtlCol="0" anchor="t"/>
          <a:lstStyle/>
          <a:p>
            <a:pPr marL="0" indent="0" algn="l">
              <a:lnSpc>
                <a:spcPts val="2400"/>
              </a:lnSpc>
              <a:buNone/>
            </a:pPr>
            <a:r>
              <a:rPr lang="en-US" sz="1900" dirty="0">
                <a:solidFill>
                  <a:srgbClr val="272525"/>
                </a:solidFill>
                <a:latin typeface="Source Serif Pro Semi Bold" pitchFamily="34" charset="0"/>
                <a:ea typeface="Source Serif Pro Semi Bold" pitchFamily="34" charset="-122"/>
                <a:cs typeface="Source Serif Pro Semi Bold" pitchFamily="34" charset="-120"/>
              </a:rPr>
              <a:t>Building the Model</a:t>
            </a:r>
            <a:endParaRPr lang="en-US" sz="1900" dirty="0"/>
          </a:p>
        </p:txBody>
      </p:sp>
      <p:sp>
        <p:nvSpPr>
          <p:cNvPr id="6" name="Text 3"/>
          <p:cNvSpPr/>
          <p:nvPr/>
        </p:nvSpPr>
        <p:spPr>
          <a:xfrm>
            <a:off x="736163" y="5734288"/>
            <a:ext cx="4175641" cy="1009769"/>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Source Sans Pro" pitchFamily="34" charset="0"/>
                <a:ea typeface="Source Sans Pro" pitchFamily="34" charset="-122"/>
                <a:cs typeface="Source Sans Pro" pitchFamily="34" charset="-120"/>
              </a:rPr>
              <a:t>The K-Means algorithm was applied to the scaled dataset with the optimal K=5, assigning a cluster label (0 to 4) to each customer.</a:t>
            </a:r>
            <a:endParaRPr lang="en-US" sz="1650" dirty="0"/>
          </a:p>
        </p:txBody>
      </p:sp>
      <p:sp>
        <p:nvSpPr>
          <p:cNvPr id="7" name="Shape 4"/>
          <p:cNvSpPr/>
          <p:nvPr/>
        </p:nvSpPr>
        <p:spPr>
          <a:xfrm>
            <a:off x="5227320" y="4457462"/>
            <a:ext cx="4175641" cy="210264"/>
          </a:xfrm>
          <a:prstGeom prst="roundRect">
            <a:avLst>
              <a:gd name="adj" fmla="val 42018"/>
            </a:avLst>
          </a:prstGeom>
          <a:solidFill>
            <a:srgbClr val="F0D4F7"/>
          </a:solidFill>
          <a:ln w="7620">
            <a:solidFill>
              <a:srgbClr val="D6BADD"/>
            </a:solidFill>
            <a:prstDash val="solid"/>
          </a:ln>
        </p:spPr>
      </p:sp>
      <p:sp>
        <p:nvSpPr>
          <p:cNvPr id="8" name="Text 5"/>
          <p:cNvSpPr/>
          <p:nvPr/>
        </p:nvSpPr>
        <p:spPr>
          <a:xfrm>
            <a:off x="5227320" y="4983242"/>
            <a:ext cx="2474714" cy="309324"/>
          </a:xfrm>
          <a:prstGeom prst="rect">
            <a:avLst/>
          </a:prstGeom>
          <a:noFill/>
          <a:ln/>
        </p:spPr>
        <p:txBody>
          <a:bodyPr wrap="none" lIns="0" tIns="0" rIns="0" bIns="0" rtlCol="0" anchor="t"/>
          <a:lstStyle/>
          <a:p>
            <a:pPr marL="0" indent="0" algn="l">
              <a:lnSpc>
                <a:spcPts val="2400"/>
              </a:lnSpc>
              <a:buNone/>
            </a:pPr>
            <a:r>
              <a:rPr lang="en-US" sz="1900" dirty="0">
                <a:solidFill>
                  <a:srgbClr val="272525"/>
                </a:solidFill>
                <a:latin typeface="Source Serif Pro Semi Bold" pitchFamily="34" charset="0"/>
                <a:ea typeface="Source Serif Pro Semi Bold" pitchFamily="34" charset="-122"/>
                <a:cs typeface="Source Serif Pro Semi Bold" pitchFamily="34" charset="-120"/>
              </a:rPr>
              <a:t>Adding Cluster Labels</a:t>
            </a:r>
            <a:endParaRPr lang="en-US" sz="1900" dirty="0"/>
          </a:p>
        </p:txBody>
      </p:sp>
      <p:sp>
        <p:nvSpPr>
          <p:cNvPr id="9" name="Text 6"/>
          <p:cNvSpPr/>
          <p:nvPr/>
        </p:nvSpPr>
        <p:spPr>
          <a:xfrm>
            <a:off x="5227320" y="5418773"/>
            <a:ext cx="4175641" cy="1009769"/>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Source Sans Pro" pitchFamily="34" charset="0"/>
                <a:ea typeface="Source Sans Pro" pitchFamily="34" charset="-122"/>
                <a:cs typeface="Source Sans Pro" pitchFamily="34" charset="-120"/>
              </a:rPr>
              <a:t>A new 'Cluster' column was added to the original DataFrame, indicating the group each customer belongs to.</a:t>
            </a:r>
            <a:endParaRPr lang="en-US" sz="1650" dirty="0"/>
          </a:p>
        </p:txBody>
      </p:sp>
      <p:sp>
        <p:nvSpPr>
          <p:cNvPr id="10" name="Shape 7"/>
          <p:cNvSpPr/>
          <p:nvPr/>
        </p:nvSpPr>
        <p:spPr>
          <a:xfrm>
            <a:off x="9718477" y="4141946"/>
            <a:ext cx="4175641" cy="210264"/>
          </a:xfrm>
          <a:prstGeom prst="roundRect">
            <a:avLst>
              <a:gd name="adj" fmla="val 42018"/>
            </a:avLst>
          </a:prstGeom>
          <a:solidFill>
            <a:srgbClr val="F0D4F7"/>
          </a:solidFill>
          <a:ln w="7620">
            <a:solidFill>
              <a:srgbClr val="D6BADD"/>
            </a:solidFill>
            <a:prstDash val="solid"/>
          </a:ln>
        </p:spPr>
      </p:sp>
      <p:sp>
        <p:nvSpPr>
          <p:cNvPr id="11" name="Text 8"/>
          <p:cNvSpPr/>
          <p:nvPr/>
        </p:nvSpPr>
        <p:spPr>
          <a:xfrm>
            <a:off x="9718477" y="4667726"/>
            <a:ext cx="2474714" cy="309324"/>
          </a:xfrm>
          <a:prstGeom prst="rect">
            <a:avLst/>
          </a:prstGeom>
          <a:noFill/>
          <a:ln/>
        </p:spPr>
        <p:txBody>
          <a:bodyPr wrap="none" lIns="0" tIns="0" rIns="0" bIns="0" rtlCol="0" anchor="t"/>
          <a:lstStyle/>
          <a:p>
            <a:pPr marL="0" indent="0" algn="l">
              <a:lnSpc>
                <a:spcPts val="2400"/>
              </a:lnSpc>
              <a:buNone/>
            </a:pPr>
            <a:r>
              <a:rPr lang="en-US" sz="1900" dirty="0">
                <a:solidFill>
                  <a:srgbClr val="272525"/>
                </a:solidFill>
                <a:latin typeface="Source Serif Pro Semi Bold" pitchFamily="34" charset="0"/>
                <a:ea typeface="Source Serif Pro Semi Bold" pitchFamily="34" charset="-122"/>
                <a:cs typeface="Source Serif Pro Semi Bold" pitchFamily="34" charset="-120"/>
              </a:rPr>
              <a:t>Resulting Data</a:t>
            </a:r>
            <a:endParaRPr lang="en-US" sz="1900" dirty="0"/>
          </a:p>
        </p:txBody>
      </p:sp>
      <p:sp>
        <p:nvSpPr>
          <p:cNvPr id="12" name="Text 9"/>
          <p:cNvSpPr/>
          <p:nvPr/>
        </p:nvSpPr>
        <p:spPr>
          <a:xfrm>
            <a:off x="9718477" y="5103257"/>
            <a:ext cx="4175641" cy="1009769"/>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Source Sans Pro" pitchFamily="34" charset="0"/>
                <a:ea typeface="Source Sans Pro" pitchFamily="34" charset="-122"/>
                <a:cs typeface="Source Sans Pro" pitchFamily="34" charset="-120"/>
              </a:rPr>
              <a:t>The DataFrame now includes the assigned cluster for each customer, facilitating further analysis and profiling.</a:t>
            </a:r>
            <a:endParaRPr lang="en-US" sz="1650" dirty="0"/>
          </a:p>
        </p:txBody>
      </p:sp>
      <p:sp>
        <p:nvSpPr>
          <p:cNvPr id="13" name="Text 10"/>
          <p:cNvSpPr/>
          <p:nvPr/>
        </p:nvSpPr>
        <p:spPr>
          <a:xfrm>
            <a:off x="736163" y="6980634"/>
            <a:ext cx="13158073" cy="673179"/>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Source Sans Pro" pitchFamily="34" charset="0"/>
                <a:ea typeface="Source Sans Pro" pitchFamily="34" charset="-122"/>
                <a:cs typeface="Source Sans Pro" pitchFamily="34" charset="-120"/>
              </a:rPr>
              <a:t>With the optimal number of clusters determined, the K-Means algorithm was applied to segment customers, providing a foundational grouping for targeted strategies.</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299204" y="2137410"/>
            <a:ext cx="4887873" cy="3954661"/>
          </a:xfrm>
          <a:prstGeom prst="rect">
            <a:avLst/>
          </a:prstGeom>
        </p:spPr>
      </p:pic>
      <p:sp>
        <p:nvSpPr>
          <p:cNvPr id="4" name="Text 0"/>
          <p:cNvSpPr/>
          <p:nvPr/>
        </p:nvSpPr>
        <p:spPr>
          <a:xfrm>
            <a:off x="6324124" y="907852"/>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Cluster Visualization</a:t>
            </a:r>
            <a:endParaRPr lang="en-US" sz="4400" dirty="0"/>
          </a:p>
        </p:txBody>
      </p:sp>
      <p:sp>
        <p:nvSpPr>
          <p:cNvPr id="5" name="Shape 1"/>
          <p:cNvSpPr/>
          <p:nvPr/>
        </p:nvSpPr>
        <p:spPr>
          <a:xfrm>
            <a:off x="6324124" y="1970842"/>
            <a:ext cx="538520" cy="538520"/>
          </a:xfrm>
          <a:prstGeom prst="roundRect">
            <a:avLst>
              <a:gd name="adj" fmla="val 18670"/>
            </a:avLst>
          </a:prstGeom>
          <a:solidFill>
            <a:srgbClr val="F0D4F7"/>
          </a:solidFill>
          <a:ln w="7620">
            <a:solidFill>
              <a:srgbClr val="D6BADD"/>
            </a:solidFill>
            <a:prstDash val="solid"/>
          </a:ln>
        </p:spPr>
      </p:sp>
      <p:sp>
        <p:nvSpPr>
          <p:cNvPr id="6" name="Text 2"/>
          <p:cNvSpPr/>
          <p:nvPr/>
        </p:nvSpPr>
        <p:spPr>
          <a:xfrm>
            <a:off x="6424374" y="2028825"/>
            <a:ext cx="337899" cy="422434"/>
          </a:xfrm>
          <a:prstGeom prst="rect">
            <a:avLst/>
          </a:prstGeom>
          <a:noFill/>
          <a:ln/>
        </p:spPr>
        <p:txBody>
          <a:bodyPr wrap="none" lIns="0" tIns="0" rIns="0" bIns="0" rtlCol="0" anchor="t"/>
          <a:lstStyle/>
          <a:p>
            <a:pPr marL="0" indent="0" algn="ctr">
              <a:lnSpc>
                <a:spcPts val="2650"/>
              </a:lnSpc>
              <a:buNone/>
            </a:pPr>
            <a:r>
              <a:rPr lang="en-US" sz="2650" dirty="0">
                <a:solidFill>
                  <a:srgbClr val="272525"/>
                </a:solidFill>
                <a:latin typeface="Source Serif Pro Semi Bold" pitchFamily="34" charset="0"/>
                <a:ea typeface="Source Serif Pro Semi Bold" pitchFamily="34" charset="-122"/>
                <a:cs typeface="Source Serif Pro Semi Bold" pitchFamily="34" charset="-120"/>
              </a:rPr>
              <a:t>1</a:t>
            </a:r>
            <a:endParaRPr lang="en-US" sz="2650" dirty="0"/>
          </a:p>
        </p:txBody>
      </p:sp>
      <p:sp>
        <p:nvSpPr>
          <p:cNvPr id="7" name="Text 3"/>
          <p:cNvSpPr/>
          <p:nvPr/>
        </p:nvSpPr>
        <p:spPr>
          <a:xfrm>
            <a:off x="7101959" y="2053114"/>
            <a:ext cx="6540460"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2D Scatter Plot (Annual Income vs. Spending Score)</a:t>
            </a:r>
            <a:endParaRPr lang="en-US" sz="2200" dirty="0"/>
          </a:p>
        </p:txBody>
      </p:sp>
      <p:sp>
        <p:nvSpPr>
          <p:cNvPr id="8" name="Text 4"/>
          <p:cNvSpPr/>
          <p:nvPr/>
        </p:nvSpPr>
        <p:spPr>
          <a:xfrm>
            <a:off x="7101959" y="2548652"/>
            <a:ext cx="6690717"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This plot clearly showed distinct customer groups based on their income and spending habits, revealing patterns like high income-low spending and low income-high spending.</a:t>
            </a:r>
            <a:endParaRPr lang="en-US" sz="1850" dirty="0"/>
          </a:p>
        </p:txBody>
      </p:sp>
      <p:sp>
        <p:nvSpPr>
          <p:cNvPr id="9" name="Shape 5"/>
          <p:cNvSpPr/>
          <p:nvPr/>
        </p:nvSpPr>
        <p:spPr>
          <a:xfrm>
            <a:off x="6324124" y="4176474"/>
            <a:ext cx="538520" cy="538520"/>
          </a:xfrm>
          <a:prstGeom prst="roundRect">
            <a:avLst>
              <a:gd name="adj" fmla="val 18670"/>
            </a:avLst>
          </a:prstGeom>
          <a:solidFill>
            <a:srgbClr val="F0D4F7"/>
          </a:solidFill>
          <a:ln w="7620">
            <a:solidFill>
              <a:srgbClr val="D6BADD"/>
            </a:solidFill>
            <a:prstDash val="solid"/>
          </a:ln>
        </p:spPr>
      </p:sp>
      <p:sp>
        <p:nvSpPr>
          <p:cNvPr id="10" name="Text 6"/>
          <p:cNvSpPr/>
          <p:nvPr/>
        </p:nvSpPr>
        <p:spPr>
          <a:xfrm>
            <a:off x="6424374" y="4234458"/>
            <a:ext cx="337899" cy="422434"/>
          </a:xfrm>
          <a:prstGeom prst="rect">
            <a:avLst/>
          </a:prstGeom>
          <a:noFill/>
          <a:ln/>
        </p:spPr>
        <p:txBody>
          <a:bodyPr wrap="none" lIns="0" tIns="0" rIns="0" bIns="0" rtlCol="0" anchor="t"/>
          <a:lstStyle/>
          <a:p>
            <a:pPr marL="0" indent="0" algn="ctr">
              <a:lnSpc>
                <a:spcPts val="2650"/>
              </a:lnSpc>
              <a:buNone/>
            </a:pPr>
            <a:r>
              <a:rPr lang="en-US" sz="2650" dirty="0">
                <a:solidFill>
                  <a:srgbClr val="272525"/>
                </a:solidFill>
                <a:latin typeface="Source Serif Pro Semi Bold" pitchFamily="34" charset="0"/>
                <a:ea typeface="Source Serif Pro Semi Bold" pitchFamily="34" charset="-122"/>
                <a:cs typeface="Source Serif Pro Semi Bold" pitchFamily="34" charset="-120"/>
              </a:rPr>
              <a:t>2</a:t>
            </a:r>
            <a:endParaRPr lang="en-US" sz="2650" dirty="0"/>
          </a:p>
        </p:txBody>
      </p:sp>
      <p:sp>
        <p:nvSpPr>
          <p:cNvPr id="11" name="Text 7"/>
          <p:cNvSpPr/>
          <p:nvPr/>
        </p:nvSpPr>
        <p:spPr>
          <a:xfrm>
            <a:off x="7101959" y="4258747"/>
            <a:ext cx="4656534"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PCA (Principal Component Analysis)</a:t>
            </a:r>
            <a:endParaRPr lang="en-US" sz="2200" dirty="0"/>
          </a:p>
        </p:txBody>
      </p:sp>
      <p:sp>
        <p:nvSpPr>
          <p:cNvPr id="12" name="Text 8"/>
          <p:cNvSpPr/>
          <p:nvPr/>
        </p:nvSpPr>
        <p:spPr>
          <a:xfrm>
            <a:off x="7101959" y="4754285"/>
            <a:ext cx="6690717"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PCA reduced dimensionality to 2 components, allowing for a clear visualisation of separated customer groups, confirming the effectiveness of the clusters in capturing different behaviours.</a:t>
            </a:r>
            <a:endParaRPr lang="en-US" sz="1850" dirty="0"/>
          </a:p>
        </p:txBody>
      </p:sp>
      <p:sp>
        <p:nvSpPr>
          <p:cNvPr id="13" name="Text 9"/>
          <p:cNvSpPr/>
          <p:nvPr/>
        </p:nvSpPr>
        <p:spPr>
          <a:xfrm>
            <a:off x="6324124" y="6172557"/>
            <a:ext cx="7468553"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Visualising clusters is key to understanding customer groupings. Both methods confirmed that the clusters effectively capture distinct customer behaviours, providing valuable insights for targeted strategies.</a:t>
            </a:r>
            <a:endParaRPr lang="en-US" sz="1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23317" y="648176"/>
            <a:ext cx="7388543" cy="691872"/>
          </a:xfrm>
          <a:prstGeom prst="rect">
            <a:avLst/>
          </a:prstGeom>
          <a:noFill/>
          <a:ln/>
        </p:spPr>
        <p:txBody>
          <a:bodyPr wrap="none" lIns="0" tIns="0" rIns="0" bIns="0" rtlCol="0" anchor="t"/>
          <a:lstStyle/>
          <a:p>
            <a:pPr marL="0" indent="0" algn="l">
              <a:lnSpc>
                <a:spcPts val="5400"/>
              </a:lnSpc>
              <a:buNone/>
            </a:pPr>
            <a:r>
              <a:rPr lang="en-US" sz="4350" dirty="0">
                <a:solidFill>
                  <a:srgbClr val="000000"/>
                </a:solidFill>
                <a:latin typeface="Source Serif Pro Semi Bold" pitchFamily="34" charset="0"/>
                <a:ea typeface="Source Serif Pro Semi Bold" pitchFamily="34" charset="-122"/>
                <a:cs typeface="Source Serif Pro Semi Bold" pitchFamily="34" charset="-120"/>
              </a:rPr>
              <a:t>Cluster Profiling and Insights</a:t>
            </a:r>
            <a:endParaRPr lang="en-US" sz="4350" dirty="0"/>
          </a:p>
        </p:txBody>
      </p:sp>
      <p:sp>
        <p:nvSpPr>
          <p:cNvPr id="3" name="Shape 1"/>
          <p:cNvSpPr/>
          <p:nvPr/>
        </p:nvSpPr>
        <p:spPr>
          <a:xfrm>
            <a:off x="823317" y="1810464"/>
            <a:ext cx="4171117" cy="2447449"/>
          </a:xfrm>
          <a:prstGeom prst="roundRect">
            <a:avLst>
              <a:gd name="adj" fmla="val 4037"/>
            </a:avLst>
          </a:prstGeom>
          <a:solidFill>
            <a:srgbClr val="F0D4F7"/>
          </a:solidFill>
          <a:ln w="7620">
            <a:solidFill>
              <a:srgbClr val="D6BADD"/>
            </a:solidFill>
            <a:prstDash val="solid"/>
          </a:ln>
        </p:spPr>
      </p:sp>
      <p:sp>
        <p:nvSpPr>
          <p:cNvPr id="4" name="Text 2"/>
          <p:cNvSpPr/>
          <p:nvPr/>
        </p:nvSpPr>
        <p:spPr>
          <a:xfrm>
            <a:off x="1066086" y="2053233"/>
            <a:ext cx="3685580" cy="691753"/>
          </a:xfrm>
          <a:prstGeom prst="rect">
            <a:avLst/>
          </a:prstGeom>
          <a:noFill/>
          <a:ln/>
        </p:spPr>
        <p:txBody>
          <a:bodyPr wrap="square" lIns="0" tIns="0" rIns="0" bIns="0" rtlCol="0" anchor="t"/>
          <a:lstStyle/>
          <a:p>
            <a:pPr marL="0" indent="0" algn="l">
              <a:lnSpc>
                <a:spcPts val="2700"/>
              </a:lnSpc>
              <a:buNone/>
            </a:pPr>
            <a:r>
              <a:rPr lang="en-US" sz="2150" dirty="0">
                <a:solidFill>
                  <a:srgbClr val="272525"/>
                </a:solidFill>
                <a:latin typeface="Source Serif Pro Semi Bold" pitchFamily="34" charset="0"/>
                <a:ea typeface="Source Serif Pro Semi Bold" pitchFamily="34" charset="-122"/>
                <a:cs typeface="Source Serif Pro Semi Bold" pitchFamily="34" charset="-120"/>
              </a:rPr>
              <a:t>Cluster 0: High Income, High Spending</a:t>
            </a:r>
            <a:endParaRPr lang="en-US" sz="2150" dirty="0"/>
          </a:p>
        </p:txBody>
      </p:sp>
      <p:sp>
        <p:nvSpPr>
          <p:cNvPr id="5" name="Text 3"/>
          <p:cNvSpPr/>
          <p:nvPr/>
        </p:nvSpPr>
        <p:spPr>
          <a:xfrm>
            <a:off x="1066086" y="2886075"/>
            <a:ext cx="3685580" cy="752713"/>
          </a:xfrm>
          <a:prstGeom prst="rect">
            <a:avLst/>
          </a:prstGeom>
          <a:noFill/>
          <a:ln/>
        </p:spPr>
        <p:txBody>
          <a:bodyPr wrap="square" lIns="0" tIns="0" rIns="0" bIns="0" rtlCol="0" anchor="t"/>
          <a:lstStyle/>
          <a:p>
            <a:pPr marL="0" indent="0" algn="l">
              <a:lnSpc>
                <a:spcPts val="2950"/>
              </a:lnSpc>
              <a:buNone/>
            </a:pPr>
            <a:r>
              <a:rPr lang="en-US" sz="1850" dirty="0">
                <a:solidFill>
                  <a:srgbClr val="272525"/>
                </a:solidFill>
                <a:latin typeface="Source Sans Pro" pitchFamily="34" charset="0"/>
                <a:ea typeface="Source Sans Pro" pitchFamily="34" charset="-122"/>
                <a:cs typeface="Source Sans Pro" pitchFamily="34" charset="-120"/>
              </a:rPr>
              <a:t>Ideal for premium products and exclusive offers.</a:t>
            </a:r>
            <a:endParaRPr lang="en-US" sz="1850" dirty="0"/>
          </a:p>
        </p:txBody>
      </p:sp>
      <p:sp>
        <p:nvSpPr>
          <p:cNvPr id="6" name="Shape 4"/>
          <p:cNvSpPr/>
          <p:nvPr/>
        </p:nvSpPr>
        <p:spPr>
          <a:xfrm>
            <a:off x="5229582" y="1810464"/>
            <a:ext cx="4171117" cy="2447449"/>
          </a:xfrm>
          <a:prstGeom prst="roundRect">
            <a:avLst>
              <a:gd name="adj" fmla="val 4037"/>
            </a:avLst>
          </a:prstGeom>
          <a:solidFill>
            <a:srgbClr val="F0D4F7"/>
          </a:solidFill>
          <a:ln w="7620">
            <a:solidFill>
              <a:srgbClr val="D6BADD"/>
            </a:solidFill>
            <a:prstDash val="solid"/>
          </a:ln>
        </p:spPr>
      </p:sp>
      <p:sp>
        <p:nvSpPr>
          <p:cNvPr id="7" name="Text 5"/>
          <p:cNvSpPr/>
          <p:nvPr/>
        </p:nvSpPr>
        <p:spPr>
          <a:xfrm>
            <a:off x="5472351" y="2053233"/>
            <a:ext cx="3685580" cy="691753"/>
          </a:xfrm>
          <a:prstGeom prst="rect">
            <a:avLst/>
          </a:prstGeom>
          <a:noFill/>
          <a:ln/>
        </p:spPr>
        <p:txBody>
          <a:bodyPr wrap="square" lIns="0" tIns="0" rIns="0" bIns="0" rtlCol="0" anchor="t"/>
          <a:lstStyle/>
          <a:p>
            <a:pPr marL="0" indent="0" algn="l">
              <a:lnSpc>
                <a:spcPts val="2700"/>
              </a:lnSpc>
              <a:buNone/>
            </a:pPr>
            <a:r>
              <a:rPr lang="en-US" sz="2150" dirty="0">
                <a:solidFill>
                  <a:srgbClr val="272525"/>
                </a:solidFill>
                <a:latin typeface="Source Serif Pro Semi Bold" pitchFamily="34" charset="0"/>
                <a:ea typeface="Source Serif Pro Semi Bold" pitchFamily="34" charset="-122"/>
                <a:cs typeface="Source Serif Pro Semi Bold" pitchFamily="34" charset="-120"/>
              </a:rPr>
              <a:t>Cluster 1: Low Income, High Spending</a:t>
            </a:r>
            <a:endParaRPr lang="en-US" sz="2150" dirty="0"/>
          </a:p>
        </p:txBody>
      </p:sp>
      <p:sp>
        <p:nvSpPr>
          <p:cNvPr id="8" name="Text 6"/>
          <p:cNvSpPr/>
          <p:nvPr/>
        </p:nvSpPr>
        <p:spPr>
          <a:xfrm>
            <a:off x="5472351" y="2886075"/>
            <a:ext cx="3685580" cy="1129070"/>
          </a:xfrm>
          <a:prstGeom prst="rect">
            <a:avLst/>
          </a:prstGeom>
          <a:noFill/>
          <a:ln/>
        </p:spPr>
        <p:txBody>
          <a:bodyPr wrap="square" lIns="0" tIns="0" rIns="0" bIns="0" rtlCol="0" anchor="t"/>
          <a:lstStyle/>
          <a:p>
            <a:pPr marL="0" indent="0" algn="l">
              <a:lnSpc>
                <a:spcPts val="2950"/>
              </a:lnSpc>
              <a:buNone/>
            </a:pPr>
            <a:r>
              <a:rPr lang="en-US" sz="1850" dirty="0">
                <a:solidFill>
                  <a:srgbClr val="272525"/>
                </a:solidFill>
                <a:latin typeface="Source Sans Pro" pitchFamily="34" charset="0"/>
                <a:ea typeface="Source Sans Pro" pitchFamily="34" charset="-122"/>
                <a:cs typeface="Source Sans Pro" pitchFamily="34" charset="-120"/>
              </a:rPr>
              <a:t>Price-sensitive but active shoppers; respond well to discounts and loyalty programs.</a:t>
            </a:r>
            <a:endParaRPr lang="en-US" sz="1850" dirty="0"/>
          </a:p>
        </p:txBody>
      </p:sp>
      <p:sp>
        <p:nvSpPr>
          <p:cNvPr id="9" name="Shape 7"/>
          <p:cNvSpPr/>
          <p:nvPr/>
        </p:nvSpPr>
        <p:spPr>
          <a:xfrm>
            <a:off x="9635847" y="1810464"/>
            <a:ext cx="4171117" cy="2447449"/>
          </a:xfrm>
          <a:prstGeom prst="roundRect">
            <a:avLst>
              <a:gd name="adj" fmla="val 4037"/>
            </a:avLst>
          </a:prstGeom>
          <a:solidFill>
            <a:srgbClr val="F0D4F7"/>
          </a:solidFill>
          <a:ln w="7620">
            <a:solidFill>
              <a:srgbClr val="D6BADD"/>
            </a:solidFill>
            <a:prstDash val="solid"/>
          </a:ln>
        </p:spPr>
      </p:sp>
      <p:sp>
        <p:nvSpPr>
          <p:cNvPr id="10" name="Text 8"/>
          <p:cNvSpPr/>
          <p:nvPr/>
        </p:nvSpPr>
        <p:spPr>
          <a:xfrm>
            <a:off x="9878616" y="2053233"/>
            <a:ext cx="3685580" cy="691753"/>
          </a:xfrm>
          <a:prstGeom prst="rect">
            <a:avLst/>
          </a:prstGeom>
          <a:noFill/>
          <a:ln/>
        </p:spPr>
        <p:txBody>
          <a:bodyPr wrap="square" lIns="0" tIns="0" rIns="0" bIns="0" rtlCol="0" anchor="t"/>
          <a:lstStyle/>
          <a:p>
            <a:pPr marL="0" indent="0" algn="l">
              <a:lnSpc>
                <a:spcPts val="2700"/>
              </a:lnSpc>
              <a:buNone/>
            </a:pPr>
            <a:r>
              <a:rPr lang="en-US" sz="2150" dirty="0">
                <a:solidFill>
                  <a:srgbClr val="272525"/>
                </a:solidFill>
                <a:latin typeface="Source Serif Pro Semi Bold" pitchFamily="34" charset="0"/>
                <a:ea typeface="Source Serif Pro Semi Bold" pitchFamily="34" charset="-122"/>
                <a:cs typeface="Source Serif Pro Semi Bold" pitchFamily="34" charset="-120"/>
              </a:rPr>
              <a:t>Cluster 2: High Income, Low Spending</a:t>
            </a:r>
            <a:endParaRPr lang="en-US" sz="2150" dirty="0"/>
          </a:p>
        </p:txBody>
      </p:sp>
      <p:sp>
        <p:nvSpPr>
          <p:cNvPr id="11" name="Text 9"/>
          <p:cNvSpPr/>
          <p:nvPr/>
        </p:nvSpPr>
        <p:spPr>
          <a:xfrm>
            <a:off x="9878616" y="2886075"/>
            <a:ext cx="3685580" cy="1129070"/>
          </a:xfrm>
          <a:prstGeom prst="rect">
            <a:avLst/>
          </a:prstGeom>
          <a:noFill/>
          <a:ln/>
        </p:spPr>
        <p:txBody>
          <a:bodyPr wrap="square" lIns="0" tIns="0" rIns="0" bIns="0" rtlCol="0" anchor="t"/>
          <a:lstStyle/>
          <a:p>
            <a:pPr marL="0" indent="0" algn="l">
              <a:lnSpc>
                <a:spcPts val="2950"/>
              </a:lnSpc>
              <a:buNone/>
            </a:pPr>
            <a:r>
              <a:rPr lang="en-US" sz="1850" dirty="0">
                <a:solidFill>
                  <a:srgbClr val="272525"/>
                </a:solidFill>
                <a:latin typeface="Source Sans Pro" pitchFamily="34" charset="0"/>
                <a:ea typeface="Source Sans Pro" pitchFamily="34" charset="-122"/>
                <a:cs typeface="Source Sans Pro" pitchFamily="34" charset="-120"/>
              </a:rPr>
              <a:t>Cautious or brand-loyal customers; need personalised engagement and trust-building campaigns.</a:t>
            </a:r>
            <a:endParaRPr lang="en-US" sz="1850" dirty="0"/>
          </a:p>
        </p:txBody>
      </p:sp>
      <p:sp>
        <p:nvSpPr>
          <p:cNvPr id="12" name="Shape 10"/>
          <p:cNvSpPr/>
          <p:nvPr/>
        </p:nvSpPr>
        <p:spPr>
          <a:xfrm>
            <a:off x="823317" y="4493062"/>
            <a:ext cx="6374368" cy="2071092"/>
          </a:xfrm>
          <a:prstGeom prst="roundRect">
            <a:avLst>
              <a:gd name="adj" fmla="val 4771"/>
            </a:avLst>
          </a:prstGeom>
          <a:solidFill>
            <a:srgbClr val="F0D4F7"/>
          </a:solidFill>
          <a:ln w="7620">
            <a:solidFill>
              <a:srgbClr val="D6BADD"/>
            </a:solidFill>
            <a:prstDash val="solid"/>
          </a:ln>
        </p:spPr>
      </p:sp>
      <p:sp>
        <p:nvSpPr>
          <p:cNvPr id="13" name="Text 11"/>
          <p:cNvSpPr/>
          <p:nvPr/>
        </p:nvSpPr>
        <p:spPr>
          <a:xfrm>
            <a:off x="1066086" y="4735830"/>
            <a:ext cx="4719042" cy="345877"/>
          </a:xfrm>
          <a:prstGeom prst="rect">
            <a:avLst/>
          </a:prstGeom>
          <a:noFill/>
          <a:ln/>
        </p:spPr>
        <p:txBody>
          <a:bodyPr wrap="none" lIns="0" tIns="0" rIns="0" bIns="0" rtlCol="0" anchor="t"/>
          <a:lstStyle/>
          <a:p>
            <a:pPr marL="0" indent="0" algn="l">
              <a:lnSpc>
                <a:spcPts val="2700"/>
              </a:lnSpc>
              <a:buNone/>
            </a:pPr>
            <a:r>
              <a:rPr lang="en-US" sz="2150" dirty="0">
                <a:solidFill>
                  <a:srgbClr val="272525"/>
                </a:solidFill>
                <a:latin typeface="Source Serif Pro Semi Bold" pitchFamily="34" charset="0"/>
                <a:ea typeface="Source Serif Pro Semi Bold" pitchFamily="34" charset="-122"/>
                <a:cs typeface="Source Serif Pro Semi Bold" pitchFamily="34" charset="-120"/>
              </a:rPr>
              <a:t>Cluster 3: Low Income, Low Spending</a:t>
            </a:r>
            <a:endParaRPr lang="en-US" sz="2150" dirty="0"/>
          </a:p>
        </p:txBody>
      </p:sp>
      <p:sp>
        <p:nvSpPr>
          <p:cNvPr id="14" name="Text 12"/>
          <p:cNvSpPr/>
          <p:nvPr/>
        </p:nvSpPr>
        <p:spPr>
          <a:xfrm>
            <a:off x="1066086" y="5222796"/>
            <a:ext cx="5888831" cy="752713"/>
          </a:xfrm>
          <a:prstGeom prst="rect">
            <a:avLst/>
          </a:prstGeom>
          <a:noFill/>
          <a:ln/>
        </p:spPr>
        <p:txBody>
          <a:bodyPr wrap="square" lIns="0" tIns="0" rIns="0" bIns="0" rtlCol="0" anchor="t"/>
          <a:lstStyle/>
          <a:p>
            <a:pPr marL="0" indent="0" algn="l">
              <a:lnSpc>
                <a:spcPts val="2950"/>
              </a:lnSpc>
              <a:buNone/>
            </a:pPr>
            <a:r>
              <a:rPr lang="en-US" sz="1850" dirty="0">
                <a:solidFill>
                  <a:srgbClr val="272525"/>
                </a:solidFill>
                <a:latin typeface="Source Sans Pro" pitchFamily="34" charset="0"/>
                <a:ea typeface="Source Sans Pro" pitchFamily="34" charset="-122"/>
                <a:cs typeface="Source Sans Pro" pitchFamily="34" charset="-120"/>
              </a:rPr>
              <a:t>Budget-conscious; best targeted with essentials and discounts, avoid aggressive campaigns.</a:t>
            </a:r>
            <a:endParaRPr lang="en-US" sz="1850" dirty="0"/>
          </a:p>
        </p:txBody>
      </p:sp>
      <p:sp>
        <p:nvSpPr>
          <p:cNvPr id="15" name="Shape 13"/>
          <p:cNvSpPr/>
          <p:nvPr/>
        </p:nvSpPr>
        <p:spPr>
          <a:xfrm>
            <a:off x="7432834" y="4493062"/>
            <a:ext cx="6374368" cy="2071092"/>
          </a:xfrm>
          <a:prstGeom prst="roundRect">
            <a:avLst>
              <a:gd name="adj" fmla="val 4771"/>
            </a:avLst>
          </a:prstGeom>
          <a:solidFill>
            <a:srgbClr val="F0D4F7"/>
          </a:solidFill>
          <a:ln w="7620">
            <a:solidFill>
              <a:srgbClr val="D6BADD"/>
            </a:solidFill>
            <a:prstDash val="solid"/>
          </a:ln>
        </p:spPr>
      </p:sp>
      <p:sp>
        <p:nvSpPr>
          <p:cNvPr id="16" name="Text 14"/>
          <p:cNvSpPr/>
          <p:nvPr/>
        </p:nvSpPr>
        <p:spPr>
          <a:xfrm>
            <a:off x="7675602" y="4735830"/>
            <a:ext cx="5888831" cy="691753"/>
          </a:xfrm>
          <a:prstGeom prst="rect">
            <a:avLst/>
          </a:prstGeom>
          <a:noFill/>
          <a:ln/>
        </p:spPr>
        <p:txBody>
          <a:bodyPr wrap="square" lIns="0" tIns="0" rIns="0" bIns="0" rtlCol="0" anchor="t"/>
          <a:lstStyle/>
          <a:p>
            <a:pPr marL="0" indent="0" algn="l">
              <a:lnSpc>
                <a:spcPts val="2700"/>
              </a:lnSpc>
              <a:buNone/>
            </a:pPr>
            <a:r>
              <a:rPr lang="en-US" sz="2150" dirty="0">
                <a:solidFill>
                  <a:srgbClr val="272525"/>
                </a:solidFill>
                <a:latin typeface="Source Serif Pro Semi Bold" pitchFamily="34" charset="0"/>
                <a:ea typeface="Source Serif Pro Semi Bold" pitchFamily="34" charset="-122"/>
                <a:cs typeface="Source Serif Pro Semi Bold" pitchFamily="34" charset="-120"/>
              </a:rPr>
              <a:t>Cluster 4: Young Customers, Average Income &amp; Spending</a:t>
            </a:r>
            <a:endParaRPr lang="en-US" sz="2150" dirty="0"/>
          </a:p>
        </p:txBody>
      </p:sp>
      <p:sp>
        <p:nvSpPr>
          <p:cNvPr id="17" name="Text 15"/>
          <p:cNvSpPr/>
          <p:nvPr/>
        </p:nvSpPr>
        <p:spPr>
          <a:xfrm>
            <a:off x="7675602" y="5568672"/>
            <a:ext cx="5888831" cy="752713"/>
          </a:xfrm>
          <a:prstGeom prst="rect">
            <a:avLst/>
          </a:prstGeom>
          <a:noFill/>
          <a:ln/>
        </p:spPr>
        <p:txBody>
          <a:bodyPr wrap="square" lIns="0" tIns="0" rIns="0" bIns="0" rtlCol="0" anchor="t"/>
          <a:lstStyle/>
          <a:p>
            <a:pPr marL="0" indent="0" algn="l">
              <a:lnSpc>
                <a:spcPts val="2950"/>
              </a:lnSpc>
              <a:buNone/>
            </a:pPr>
            <a:r>
              <a:rPr lang="en-US" sz="1850" dirty="0">
                <a:solidFill>
                  <a:srgbClr val="272525"/>
                </a:solidFill>
                <a:latin typeface="Source Sans Pro" pitchFamily="34" charset="0"/>
                <a:ea typeface="Source Sans Pro" pitchFamily="34" charset="-122"/>
                <a:cs typeface="Source Sans Pro" pitchFamily="34" charset="-120"/>
              </a:rPr>
              <a:t>Trend-driven segment; potential for long-term loyalty, ideal for trendy or digital-first products.</a:t>
            </a:r>
            <a:endParaRPr lang="en-US" sz="1850" dirty="0"/>
          </a:p>
        </p:txBody>
      </p:sp>
      <p:sp>
        <p:nvSpPr>
          <p:cNvPr id="18" name="Text 16"/>
          <p:cNvSpPr/>
          <p:nvPr/>
        </p:nvSpPr>
        <p:spPr>
          <a:xfrm>
            <a:off x="823317" y="6828711"/>
            <a:ext cx="12983766" cy="752713"/>
          </a:xfrm>
          <a:prstGeom prst="rect">
            <a:avLst/>
          </a:prstGeom>
          <a:noFill/>
          <a:ln/>
        </p:spPr>
        <p:txBody>
          <a:bodyPr wrap="square" lIns="0" tIns="0" rIns="0" bIns="0" rtlCol="0" anchor="t"/>
          <a:lstStyle/>
          <a:p>
            <a:pPr marL="0" indent="0" algn="l">
              <a:lnSpc>
                <a:spcPts val="2950"/>
              </a:lnSpc>
              <a:buNone/>
            </a:pPr>
            <a:r>
              <a:rPr lang="en-US" sz="1850" dirty="0">
                <a:solidFill>
                  <a:srgbClr val="272525"/>
                </a:solidFill>
                <a:latin typeface="Source Sans Pro" pitchFamily="34" charset="0"/>
                <a:ea typeface="Source Sans Pro" pitchFamily="34" charset="-122"/>
                <a:cs typeface="Source Sans Pro" pitchFamily="34" charset="-120"/>
              </a:rPr>
              <a:t>Profiling each cluster helps interpret customer behaviour. By analysing average age, annual income, spending score, and gender distribution per cluster, we can tailor marketing strategies effectively.</a:t>
            </a:r>
            <a:endParaRPr lang="en-US" sz="1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42090" y="876419"/>
            <a:ext cx="6565463" cy="634960"/>
          </a:xfrm>
          <a:prstGeom prst="rect">
            <a:avLst/>
          </a:prstGeom>
          <a:noFill/>
          <a:ln/>
        </p:spPr>
        <p:txBody>
          <a:bodyPr wrap="none" lIns="0" tIns="0" rIns="0" bIns="0" rtlCol="0" anchor="t"/>
          <a:lstStyle/>
          <a:p>
            <a:pPr marL="0" indent="0" algn="l">
              <a:lnSpc>
                <a:spcPts val="5000"/>
              </a:lnSpc>
              <a:buNone/>
            </a:pPr>
            <a:r>
              <a:rPr lang="en-US" sz="4000" dirty="0">
                <a:solidFill>
                  <a:srgbClr val="000000"/>
                </a:solidFill>
                <a:latin typeface="Source Serif Pro Semi Bold" pitchFamily="34" charset="0"/>
                <a:ea typeface="Source Serif Pro Semi Bold" pitchFamily="34" charset="-122"/>
                <a:cs typeface="Source Serif Pro Semi Bold" pitchFamily="34" charset="-120"/>
              </a:rPr>
              <a:t>Conclusion and Future Work</a:t>
            </a:r>
            <a:endParaRPr lang="en-US" sz="4000" dirty="0"/>
          </a:p>
        </p:txBody>
      </p:sp>
      <p:sp>
        <p:nvSpPr>
          <p:cNvPr id="4" name="Shape 1"/>
          <p:cNvSpPr/>
          <p:nvPr/>
        </p:nvSpPr>
        <p:spPr>
          <a:xfrm>
            <a:off x="6484977" y="1835229"/>
            <a:ext cx="30480" cy="4238506"/>
          </a:xfrm>
          <a:prstGeom prst="roundRect">
            <a:avLst>
              <a:gd name="adj" fmla="val 297547"/>
            </a:avLst>
          </a:prstGeom>
          <a:solidFill>
            <a:srgbClr val="D6BADD"/>
          </a:solidFill>
          <a:ln/>
        </p:spPr>
      </p:sp>
      <p:sp>
        <p:nvSpPr>
          <p:cNvPr id="5" name="Shape 2"/>
          <p:cNvSpPr/>
          <p:nvPr/>
        </p:nvSpPr>
        <p:spPr>
          <a:xfrm>
            <a:off x="6697385" y="2062877"/>
            <a:ext cx="647700" cy="30480"/>
          </a:xfrm>
          <a:prstGeom prst="roundRect">
            <a:avLst>
              <a:gd name="adj" fmla="val 297547"/>
            </a:avLst>
          </a:prstGeom>
          <a:solidFill>
            <a:srgbClr val="D6BADD"/>
          </a:solidFill>
          <a:ln/>
        </p:spPr>
      </p:sp>
      <p:sp>
        <p:nvSpPr>
          <p:cNvPr id="6" name="Shape 3"/>
          <p:cNvSpPr/>
          <p:nvPr/>
        </p:nvSpPr>
        <p:spPr>
          <a:xfrm>
            <a:off x="6242090" y="1835229"/>
            <a:ext cx="485775" cy="485775"/>
          </a:xfrm>
          <a:prstGeom prst="roundRect">
            <a:avLst>
              <a:gd name="adj" fmla="val 18670"/>
            </a:avLst>
          </a:prstGeom>
          <a:solidFill>
            <a:srgbClr val="F0D4F7"/>
          </a:solidFill>
          <a:ln w="7620">
            <a:solidFill>
              <a:srgbClr val="D6BADD"/>
            </a:solidFill>
            <a:prstDash val="solid"/>
          </a:ln>
        </p:spPr>
      </p:sp>
      <p:sp>
        <p:nvSpPr>
          <p:cNvPr id="7" name="Text 4"/>
          <p:cNvSpPr/>
          <p:nvPr/>
        </p:nvSpPr>
        <p:spPr>
          <a:xfrm>
            <a:off x="6332577" y="1887617"/>
            <a:ext cx="304800" cy="381000"/>
          </a:xfrm>
          <a:prstGeom prst="rect">
            <a:avLst/>
          </a:prstGeom>
          <a:noFill/>
          <a:ln/>
        </p:spPr>
        <p:txBody>
          <a:bodyPr wrap="none" lIns="0" tIns="0" rIns="0" bIns="0" rtlCol="0" anchor="t"/>
          <a:lstStyle/>
          <a:p>
            <a:pPr marL="0" indent="0" algn="ctr">
              <a:lnSpc>
                <a:spcPts val="2400"/>
              </a:lnSpc>
              <a:buNone/>
            </a:pPr>
            <a:r>
              <a:rPr lang="en-US" sz="2400" dirty="0">
                <a:solidFill>
                  <a:srgbClr val="272525"/>
                </a:solidFill>
                <a:latin typeface="Source Serif Pro Semi Bold" pitchFamily="34" charset="0"/>
                <a:ea typeface="Source Serif Pro Semi Bold" pitchFamily="34" charset="-122"/>
                <a:cs typeface="Source Serif Pro Semi Bold" pitchFamily="34" charset="-120"/>
              </a:rPr>
              <a:t>1</a:t>
            </a:r>
            <a:endParaRPr lang="en-US" sz="2400" dirty="0"/>
          </a:p>
        </p:txBody>
      </p:sp>
      <p:sp>
        <p:nvSpPr>
          <p:cNvPr id="8" name="Text 5"/>
          <p:cNvSpPr/>
          <p:nvPr/>
        </p:nvSpPr>
        <p:spPr>
          <a:xfrm>
            <a:off x="7564636" y="1909405"/>
            <a:ext cx="2540318" cy="317540"/>
          </a:xfrm>
          <a:prstGeom prst="rect">
            <a:avLst/>
          </a:prstGeom>
          <a:noFill/>
          <a:ln/>
        </p:spPr>
        <p:txBody>
          <a:bodyPr wrap="none" lIns="0" tIns="0" rIns="0" bIns="0" rtlCol="0" anchor="t"/>
          <a:lstStyle/>
          <a:p>
            <a:pPr marL="0" indent="0" algn="l">
              <a:lnSpc>
                <a:spcPts val="2500"/>
              </a:lnSpc>
              <a:buNone/>
            </a:pPr>
            <a:r>
              <a:rPr lang="en-US" sz="2000" dirty="0">
                <a:solidFill>
                  <a:srgbClr val="272525"/>
                </a:solidFill>
                <a:latin typeface="Source Serif Pro Semi Bold" pitchFamily="34" charset="0"/>
                <a:ea typeface="Source Serif Pro Semi Bold" pitchFamily="34" charset="-122"/>
                <a:cs typeface="Source Serif Pro Semi Bold" pitchFamily="34" charset="-120"/>
              </a:rPr>
              <a:t>Conclusion</a:t>
            </a:r>
            <a:endParaRPr lang="en-US" sz="2000" dirty="0"/>
          </a:p>
        </p:txBody>
      </p:sp>
      <p:sp>
        <p:nvSpPr>
          <p:cNvPr id="9" name="Text 6"/>
          <p:cNvSpPr/>
          <p:nvPr/>
        </p:nvSpPr>
        <p:spPr>
          <a:xfrm>
            <a:off x="7564636" y="2356485"/>
            <a:ext cx="6310074" cy="1382078"/>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Successfully applied K-Means Clustering to segment customers, cleaning data, conducting EDA, determining optimal clusters, and visualising segments. This provides a foundation for targeted marketing, improving ROI and customer experience.</a:t>
            </a:r>
            <a:endParaRPr lang="en-US" sz="1700" dirty="0"/>
          </a:p>
        </p:txBody>
      </p:sp>
      <p:sp>
        <p:nvSpPr>
          <p:cNvPr id="10" name="Shape 7"/>
          <p:cNvSpPr/>
          <p:nvPr/>
        </p:nvSpPr>
        <p:spPr>
          <a:xfrm>
            <a:off x="6697385" y="4398050"/>
            <a:ext cx="647700" cy="30480"/>
          </a:xfrm>
          <a:prstGeom prst="roundRect">
            <a:avLst>
              <a:gd name="adj" fmla="val 297547"/>
            </a:avLst>
          </a:prstGeom>
          <a:solidFill>
            <a:srgbClr val="D6BADD"/>
          </a:solidFill>
          <a:ln/>
        </p:spPr>
      </p:sp>
      <p:sp>
        <p:nvSpPr>
          <p:cNvPr id="11" name="Shape 8"/>
          <p:cNvSpPr/>
          <p:nvPr/>
        </p:nvSpPr>
        <p:spPr>
          <a:xfrm>
            <a:off x="6242090" y="4170402"/>
            <a:ext cx="485775" cy="485775"/>
          </a:xfrm>
          <a:prstGeom prst="roundRect">
            <a:avLst>
              <a:gd name="adj" fmla="val 18670"/>
            </a:avLst>
          </a:prstGeom>
          <a:solidFill>
            <a:srgbClr val="F0D4F7"/>
          </a:solidFill>
          <a:ln w="7620">
            <a:solidFill>
              <a:srgbClr val="D6BADD"/>
            </a:solidFill>
            <a:prstDash val="solid"/>
          </a:ln>
        </p:spPr>
      </p:sp>
      <p:sp>
        <p:nvSpPr>
          <p:cNvPr id="12" name="Text 9"/>
          <p:cNvSpPr/>
          <p:nvPr/>
        </p:nvSpPr>
        <p:spPr>
          <a:xfrm>
            <a:off x="6332577" y="4222790"/>
            <a:ext cx="304800" cy="381000"/>
          </a:xfrm>
          <a:prstGeom prst="rect">
            <a:avLst/>
          </a:prstGeom>
          <a:noFill/>
          <a:ln/>
        </p:spPr>
        <p:txBody>
          <a:bodyPr wrap="none" lIns="0" tIns="0" rIns="0" bIns="0" rtlCol="0" anchor="t"/>
          <a:lstStyle/>
          <a:p>
            <a:pPr marL="0" indent="0" algn="ctr">
              <a:lnSpc>
                <a:spcPts val="2400"/>
              </a:lnSpc>
              <a:buNone/>
            </a:pPr>
            <a:r>
              <a:rPr lang="en-US" sz="2400" dirty="0">
                <a:solidFill>
                  <a:srgbClr val="272525"/>
                </a:solidFill>
                <a:latin typeface="Source Serif Pro Semi Bold" pitchFamily="34" charset="0"/>
                <a:ea typeface="Source Serif Pro Semi Bold" pitchFamily="34" charset="-122"/>
                <a:cs typeface="Source Serif Pro Semi Bold" pitchFamily="34" charset="-120"/>
              </a:rPr>
              <a:t>2</a:t>
            </a:r>
            <a:endParaRPr lang="en-US" sz="2400" dirty="0"/>
          </a:p>
        </p:txBody>
      </p:sp>
      <p:sp>
        <p:nvSpPr>
          <p:cNvPr id="13" name="Text 10"/>
          <p:cNvSpPr/>
          <p:nvPr/>
        </p:nvSpPr>
        <p:spPr>
          <a:xfrm>
            <a:off x="7564636" y="4244578"/>
            <a:ext cx="2540318" cy="317540"/>
          </a:xfrm>
          <a:prstGeom prst="rect">
            <a:avLst/>
          </a:prstGeom>
          <a:noFill/>
          <a:ln/>
        </p:spPr>
        <p:txBody>
          <a:bodyPr wrap="none" lIns="0" tIns="0" rIns="0" bIns="0" rtlCol="0" anchor="t"/>
          <a:lstStyle/>
          <a:p>
            <a:pPr marL="0" indent="0" algn="l">
              <a:lnSpc>
                <a:spcPts val="2500"/>
              </a:lnSpc>
              <a:buNone/>
            </a:pPr>
            <a:r>
              <a:rPr lang="en-US" sz="2000" dirty="0">
                <a:solidFill>
                  <a:srgbClr val="272525"/>
                </a:solidFill>
                <a:latin typeface="Source Serif Pro Semi Bold" pitchFamily="34" charset="0"/>
                <a:ea typeface="Source Serif Pro Semi Bold" pitchFamily="34" charset="-122"/>
                <a:cs typeface="Source Serif Pro Semi Bold" pitchFamily="34" charset="-120"/>
              </a:rPr>
              <a:t>Future Work</a:t>
            </a:r>
            <a:endParaRPr lang="en-US" sz="2000" dirty="0"/>
          </a:p>
        </p:txBody>
      </p:sp>
      <p:sp>
        <p:nvSpPr>
          <p:cNvPr id="14" name="Text 11"/>
          <p:cNvSpPr/>
          <p:nvPr/>
        </p:nvSpPr>
        <p:spPr>
          <a:xfrm>
            <a:off x="7564636" y="4691658"/>
            <a:ext cx="6310074" cy="1382078"/>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Future enhancements include dynamic segmentation with real-time behaviour, incorporating more features, A/B testing campaigns, exploring advanced models like DBSCAN, and integrating with dashboards for live monitoring.</a:t>
            </a:r>
            <a:endParaRPr lang="en-US" sz="1700" dirty="0"/>
          </a:p>
        </p:txBody>
      </p:sp>
      <p:sp>
        <p:nvSpPr>
          <p:cNvPr id="15" name="Text 12"/>
          <p:cNvSpPr/>
          <p:nvPr/>
        </p:nvSpPr>
        <p:spPr>
          <a:xfrm>
            <a:off x="6242090" y="6316623"/>
            <a:ext cx="7632621" cy="1036558"/>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latin typeface="Source Sans Pro" pitchFamily="34" charset="0"/>
                <a:ea typeface="Source Sans Pro" pitchFamily="34" charset="-122"/>
                <a:cs typeface="Source Sans Pro" pitchFamily="34" charset="-120"/>
              </a:rPr>
              <a:t>This customer segmentation model forms the basis for data-driven decisions in customer relationship management, marketing, and sales strategy, ensuring more precise targeting and increased customer satisfaction.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913</Words>
  <Application>Microsoft Office PowerPoint</Application>
  <PresentationFormat>Custom</PresentationFormat>
  <Paragraphs>80</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Consolas</vt:lpstr>
      <vt:lpstr>Source Sans Pro</vt:lpstr>
      <vt:lpstr>Source Serif Pro Semi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Sankalp Gupta</cp:lastModifiedBy>
  <cp:revision>2</cp:revision>
  <dcterms:created xsi:type="dcterms:W3CDTF">2025-06-02T04:22:07Z</dcterms:created>
  <dcterms:modified xsi:type="dcterms:W3CDTF">2025-06-02T04:29:28Z</dcterms:modified>
</cp:coreProperties>
</file>